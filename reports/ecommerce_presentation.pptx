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Heading Now 71-78" charset="1" panose="00000000000000000000"/>
      <p:regular r:id="rId19"/>
    </p:embeddedFont>
    <p:embeddedFont>
      <p:font typeface="TT Firs Neue" charset="1" panose="02000503030000020004"/>
      <p:regular r:id="rId20"/>
    </p:embeddedFont>
    <p:embeddedFont>
      <p:font typeface="TT Firs Neue Bold" charset="1" panose="0200080303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27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28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29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5042010" y="-1735934"/>
            <a:ext cx="14248709" cy="12619860"/>
          </a:xfrm>
          <a:custGeom>
            <a:avLst/>
            <a:gdLst/>
            <a:ahLst/>
            <a:cxnLst/>
            <a:rect r="r" b="b" t="t" l="l"/>
            <a:pathLst>
              <a:path h="12619860" w="14248709">
                <a:moveTo>
                  <a:pt x="14248709" y="0"/>
                </a:moveTo>
                <a:lnTo>
                  <a:pt x="0" y="0"/>
                </a:lnTo>
                <a:lnTo>
                  <a:pt x="0" y="12619860"/>
                </a:lnTo>
                <a:lnTo>
                  <a:pt x="14248709" y="12619860"/>
                </a:lnTo>
                <a:lnTo>
                  <a:pt x="1424870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1430" t="0" r="0" b="-409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15223" y="9725637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1"/>
                </a:lnTo>
                <a:lnTo>
                  <a:pt x="0" y="3539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368439" y="-1282269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1"/>
                </a:lnTo>
                <a:lnTo>
                  <a:pt x="0" y="3539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394" y="0"/>
            <a:ext cx="10189129" cy="6284833"/>
          </a:xfrm>
          <a:custGeom>
            <a:avLst/>
            <a:gdLst/>
            <a:ahLst/>
            <a:cxnLst/>
            <a:rect r="r" b="b" t="t" l="l"/>
            <a:pathLst>
              <a:path h="6284833" w="10189129">
                <a:moveTo>
                  <a:pt x="0" y="0"/>
                </a:moveTo>
                <a:lnTo>
                  <a:pt x="10189128" y="0"/>
                </a:lnTo>
                <a:lnTo>
                  <a:pt x="10189128" y="6284833"/>
                </a:lnTo>
                <a:lnTo>
                  <a:pt x="0" y="62848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2126" t="-122627" r="-10645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485119" y="3750821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2"/>
                </a:lnTo>
                <a:lnTo>
                  <a:pt x="0" y="3539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461658" y="-178846"/>
            <a:ext cx="7705427" cy="4752842"/>
          </a:xfrm>
          <a:custGeom>
            <a:avLst/>
            <a:gdLst/>
            <a:ahLst/>
            <a:cxnLst/>
            <a:rect r="r" b="b" t="t" l="l"/>
            <a:pathLst>
              <a:path h="4752842" w="7705427">
                <a:moveTo>
                  <a:pt x="0" y="0"/>
                </a:moveTo>
                <a:lnTo>
                  <a:pt x="7705427" y="0"/>
                </a:lnTo>
                <a:lnTo>
                  <a:pt x="7705427" y="4752842"/>
                </a:lnTo>
                <a:lnTo>
                  <a:pt x="0" y="47528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2126" t="-122627" r="-10645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6943775" y="396754"/>
            <a:ext cx="11830322" cy="10477933"/>
          </a:xfrm>
          <a:custGeom>
            <a:avLst/>
            <a:gdLst/>
            <a:ahLst/>
            <a:cxnLst/>
            <a:rect r="r" b="b" t="t" l="l"/>
            <a:pathLst>
              <a:path h="10477933" w="11830322">
                <a:moveTo>
                  <a:pt x="11830323" y="0"/>
                </a:moveTo>
                <a:lnTo>
                  <a:pt x="0" y="0"/>
                </a:lnTo>
                <a:lnTo>
                  <a:pt x="0" y="10477933"/>
                </a:lnTo>
                <a:lnTo>
                  <a:pt x="11830323" y="10477933"/>
                </a:lnTo>
                <a:lnTo>
                  <a:pt x="1183032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1430" t="0" r="0" b="-40947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536033" y="3260472"/>
            <a:ext cx="9260663" cy="7026528"/>
          </a:xfrm>
          <a:custGeom>
            <a:avLst/>
            <a:gdLst/>
            <a:ahLst/>
            <a:cxnLst/>
            <a:rect r="r" b="b" t="t" l="l"/>
            <a:pathLst>
              <a:path h="7026528" w="9260663">
                <a:moveTo>
                  <a:pt x="0" y="0"/>
                </a:moveTo>
                <a:lnTo>
                  <a:pt x="9260663" y="0"/>
                </a:lnTo>
                <a:lnTo>
                  <a:pt x="9260663" y="7026528"/>
                </a:lnTo>
                <a:lnTo>
                  <a:pt x="0" y="702652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99755" y="2864874"/>
            <a:ext cx="12030860" cy="2363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86"/>
              </a:lnSpc>
            </a:pPr>
            <a:r>
              <a:rPr lang="en-US" sz="5786" spc="-318">
                <a:solidFill>
                  <a:srgbClr val="1F1F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Brazilian E-Commerce Analysis</a:t>
            </a:r>
          </a:p>
          <a:p>
            <a:pPr algn="l">
              <a:lnSpc>
                <a:spcPts val="5786"/>
              </a:lnSpc>
            </a:pPr>
          </a:p>
          <a:p>
            <a:pPr algn="l">
              <a:lnSpc>
                <a:spcPts val="5786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2166364" y="1670132"/>
            <a:ext cx="5212570" cy="946353"/>
            <a:chOff x="0" y="0"/>
            <a:chExt cx="1372858" cy="24924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2858" cy="249245"/>
            </a:xfrm>
            <a:custGeom>
              <a:avLst/>
              <a:gdLst/>
              <a:ahLst/>
              <a:cxnLst/>
              <a:rect r="r" b="b" t="t" l="l"/>
              <a:pathLst>
                <a:path h="249245" w="1372858">
                  <a:moveTo>
                    <a:pt x="22279" y="0"/>
                  </a:moveTo>
                  <a:lnTo>
                    <a:pt x="1350579" y="0"/>
                  </a:lnTo>
                  <a:cubicBezTo>
                    <a:pt x="1362883" y="0"/>
                    <a:pt x="1372858" y="9974"/>
                    <a:pt x="1372858" y="22279"/>
                  </a:cubicBezTo>
                  <a:lnTo>
                    <a:pt x="1372858" y="226967"/>
                  </a:lnTo>
                  <a:cubicBezTo>
                    <a:pt x="1372858" y="239271"/>
                    <a:pt x="1362883" y="249245"/>
                    <a:pt x="1350579" y="249245"/>
                  </a:cubicBezTo>
                  <a:lnTo>
                    <a:pt x="22279" y="249245"/>
                  </a:lnTo>
                  <a:cubicBezTo>
                    <a:pt x="9974" y="249245"/>
                    <a:pt x="0" y="239271"/>
                    <a:pt x="0" y="226967"/>
                  </a:cubicBezTo>
                  <a:lnTo>
                    <a:pt x="0" y="22279"/>
                  </a:lnTo>
                  <a:cubicBezTo>
                    <a:pt x="0" y="9974"/>
                    <a:pt x="9974" y="0"/>
                    <a:pt x="22279" y="0"/>
                  </a:cubicBezTo>
                  <a:close/>
                </a:path>
              </a:pathLst>
            </a:custGeom>
            <a:solidFill>
              <a:srgbClr val="FE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372858" cy="2968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99755" y="8073843"/>
            <a:ext cx="4098879" cy="600581"/>
            <a:chOff x="0" y="0"/>
            <a:chExt cx="1079540" cy="1581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540" cy="158178"/>
            </a:xfrm>
            <a:custGeom>
              <a:avLst/>
              <a:gdLst/>
              <a:ahLst/>
              <a:cxnLst/>
              <a:rect r="r" b="b" t="t" l="l"/>
              <a:pathLst>
                <a:path h="158178" w="1079540">
                  <a:moveTo>
                    <a:pt x="22665" y="0"/>
                  </a:moveTo>
                  <a:lnTo>
                    <a:pt x="1056875" y="0"/>
                  </a:lnTo>
                  <a:cubicBezTo>
                    <a:pt x="1062886" y="0"/>
                    <a:pt x="1068651" y="2388"/>
                    <a:pt x="1072902" y="6639"/>
                  </a:cubicBezTo>
                  <a:cubicBezTo>
                    <a:pt x="1077152" y="10889"/>
                    <a:pt x="1079540" y="16654"/>
                    <a:pt x="1079540" y="22665"/>
                  </a:cubicBezTo>
                  <a:lnTo>
                    <a:pt x="1079540" y="135512"/>
                  </a:lnTo>
                  <a:cubicBezTo>
                    <a:pt x="1079540" y="148030"/>
                    <a:pt x="1069392" y="158178"/>
                    <a:pt x="1056875" y="158178"/>
                  </a:cubicBezTo>
                  <a:lnTo>
                    <a:pt x="22665" y="158178"/>
                  </a:lnTo>
                  <a:cubicBezTo>
                    <a:pt x="16654" y="158178"/>
                    <a:pt x="10889" y="155790"/>
                    <a:pt x="6639" y="151539"/>
                  </a:cubicBezTo>
                  <a:cubicBezTo>
                    <a:pt x="2388" y="147288"/>
                    <a:pt x="0" y="141523"/>
                    <a:pt x="0" y="135512"/>
                  </a:cubicBezTo>
                  <a:lnTo>
                    <a:pt x="0" y="22665"/>
                  </a:lnTo>
                  <a:cubicBezTo>
                    <a:pt x="0" y="10148"/>
                    <a:pt x="10148" y="0"/>
                    <a:pt x="226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D70FE">
                    <a:alpha val="100000"/>
                  </a:srgbClr>
                </a:gs>
                <a:gs pos="100000">
                  <a:srgbClr val="745FDF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79540" cy="205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939517" y="5091143"/>
            <a:ext cx="2195335" cy="275415"/>
          </a:xfrm>
          <a:custGeom>
            <a:avLst/>
            <a:gdLst/>
            <a:ahLst/>
            <a:cxnLst/>
            <a:rect r="r" b="b" t="t" l="l"/>
            <a:pathLst>
              <a:path h="275415" w="2195335">
                <a:moveTo>
                  <a:pt x="0" y="0"/>
                </a:moveTo>
                <a:lnTo>
                  <a:pt x="2195335" y="0"/>
                </a:lnTo>
                <a:lnTo>
                  <a:pt x="2195335" y="275415"/>
                </a:lnTo>
                <a:lnTo>
                  <a:pt x="0" y="2754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939517" y="8164248"/>
            <a:ext cx="2195335" cy="3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EFFFF"/>
                </a:solidFill>
                <a:latin typeface="TT Firs Neue"/>
                <a:ea typeface="TT Firs Neue"/>
                <a:cs typeface="TT Firs Neue"/>
                <a:sym typeface="TT Firs Neue"/>
              </a:rPr>
              <a:t>P</a:t>
            </a:r>
            <a:r>
              <a:rPr lang="en-US" sz="2000">
                <a:solidFill>
                  <a:srgbClr val="FEFFFF"/>
                </a:solidFill>
                <a:latin typeface="TT Firs Neue"/>
                <a:ea typeface="TT Firs Neue"/>
                <a:cs typeface="TT Firs Neue"/>
                <a:sym typeface="TT Firs Neue"/>
              </a:rPr>
              <a:t>resented By: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807293" y="8164248"/>
            <a:ext cx="189134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E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</a:t>
            </a:r>
            <a:r>
              <a:rPr lang="en-US" sz="2000" b="true">
                <a:solidFill>
                  <a:srgbClr val="FE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rmia Gamal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66364" y="1707063"/>
            <a:ext cx="5092936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Too</a:t>
            </a: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ls: Python • Machine Learning • Power BI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99755" y="4013525"/>
            <a:ext cx="10566609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Dataset: Brazilian E-Commerce Public Dataset (Olist – Kaggle)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43061" y="4526371"/>
            <a:ext cx="451114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Analysis Period: 2016 – 2018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38293" y="-1164649"/>
            <a:ext cx="13478974" cy="12271620"/>
          </a:xfrm>
          <a:custGeom>
            <a:avLst/>
            <a:gdLst/>
            <a:ahLst/>
            <a:cxnLst/>
            <a:rect r="r" b="b" t="t" l="l"/>
            <a:pathLst>
              <a:path h="12271620" w="13478974">
                <a:moveTo>
                  <a:pt x="0" y="0"/>
                </a:moveTo>
                <a:lnTo>
                  <a:pt x="13478973" y="0"/>
                </a:lnTo>
                <a:lnTo>
                  <a:pt x="13478973" y="12271620"/>
                </a:lnTo>
                <a:lnTo>
                  <a:pt x="0" y="122716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9957" t="-64666" r="0" b="-1561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98961" y="-2390348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20" y="0"/>
                </a:lnTo>
                <a:lnTo>
                  <a:pt x="3513820" y="3539561"/>
                </a:lnTo>
                <a:lnTo>
                  <a:pt x="0" y="3539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9026" y="-620568"/>
            <a:ext cx="11141336" cy="11727538"/>
          </a:xfrm>
          <a:custGeom>
            <a:avLst/>
            <a:gdLst/>
            <a:ahLst/>
            <a:cxnLst/>
            <a:rect r="r" b="b" t="t" l="l"/>
            <a:pathLst>
              <a:path h="11727538" w="11141336">
                <a:moveTo>
                  <a:pt x="0" y="0"/>
                </a:moveTo>
                <a:lnTo>
                  <a:pt x="11141337" y="0"/>
                </a:lnTo>
                <a:lnTo>
                  <a:pt x="11141337" y="11727539"/>
                </a:lnTo>
                <a:lnTo>
                  <a:pt x="0" y="117275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9957" t="-55931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59727" y="2577682"/>
            <a:ext cx="7722618" cy="6398397"/>
            <a:chOff x="0" y="0"/>
            <a:chExt cx="1635463" cy="13550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5465" cy="1355025"/>
            </a:xfrm>
            <a:custGeom>
              <a:avLst/>
              <a:gdLst/>
              <a:ahLst/>
              <a:cxnLst/>
              <a:rect r="r" b="b" t="t" l="l"/>
              <a:pathLst>
                <a:path h="1355025" w="1635465">
                  <a:moveTo>
                    <a:pt x="1288506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1075632"/>
                  </a:lnTo>
                  <a:cubicBezTo>
                    <a:pt x="0" y="1112143"/>
                    <a:pt x="13458" y="1147373"/>
                    <a:pt x="37800" y="1174584"/>
                  </a:cubicBezTo>
                  <a:lnTo>
                    <a:pt x="154967" y="1305561"/>
                  </a:lnTo>
                  <a:cubicBezTo>
                    <a:pt x="183122" y="1337036"/>
                    <a:pt x="223353" y="1355026"/>
                    <a:pt x="265584" y="1355025"/>
                  </a:cubicBezTo>
                  <a:lnTo>
                    <a:pt x="1487049" y="1355025"/>
                  </a:lnTo>
                  <a:cubicBezTo>
                    <a:pt x="1526411" y="1355025"/>
                    <a:pt x="1564162" y="1339389"/>
                    <a:pt x="1591995" y="1311556"/>
                  </a:cubicBezTo>
                  <a:cubicBezTo>
                    <a:pt x="1619828" y="1283722"/>
                    <a:pt x="1635465" y="1245972"/>
                    <a:pt x="1635465" y="1206610"/>
                  </a:cubicBezTo>
                  <a:lnTo>
                    <a:pt x="1635465" y="366141"/>
                  </a:lnTo>
                  <a:cubicBezTo>
                    <a:pt x="1635465" y="329143"/>
                    <a:pt x="1621646" y="293478"/>
                    <a:pt x="1596716" y="266140"/>
                  </a:cubicBezTo>
                  <a:lnTo>
                    <a:pt x="1398173" y="48414"/>
                  </a:lnTo>
                  <a:cubicBezTo>
                    <a:pt x="1370051" y="17574"/>
                    <a:pt x="1330243" y="0"/>
                    <a:pt x="1288506" y="0"/>
                  </a:cubicBezTo>
                  <a:close/>
                </a:path>
              </a:pathLst>
            </a:custGeom>
            <a:blipFill>
              <a:blip r:embed="rId8"/>
              <a:stretch>
                <a:fillRect l="-18900" t="0" r="-1890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7447702" y="1603939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1"/>
                </a:lnTo>
                <a:lnTo>
                  <a:pt x="0" y="3539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26896" y="8976966"/>
            <a:ext cx="3513819" cy="1053377"/>
          </a:xfrm>
          <a:custGeom>
            <a:avLst/>
            <a:gdLst/>
            <a:ahLst/>
            <a:cxnLst/>
            <a:rect r="r" b="b" t="t" l="l"/>
            <a:pathLst>
              <a:path h="1053377" w="3513819">
                <a:moveTo>
                  <a:pt x="0" y="0"/>
                </a:moveTo>
                <a:lnTo>
                  <a:pt x="3513819" y="0"/>
                </a:lnTo>
                <a:lnTo>
                  <a:pt x="3513819" y="1053377"/>
                </a:lnTo>
                <a:lnTo>
                  <a:pt x="0" y="10533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23602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504727" y="7163117"/>
            <a:ext cx="2195335" cy="275415"/>
          </a:xfrm>
          <a:custGeom>
            <a:avLst/>
            <a:gdLst/>
            <a:ahLst/>
            <a:cxnLst/>
            <a:rect r="r" b="b" t="t" l="l"/>
            <a:pathLst>
              <a:path h="275415" w="2195335">
                <a:moveTo>
                  <a:pt x="0" y="0"/>
                </a:moveTo>
                <a:lnTo>
                  <a:pt x="2195335" y="0"/>
                </a:lnTo>
                <a:lnTo>
                  <a:pt x="2195335" y="275415"/>
                </a:lnTo>
                <a:lnTo>
                  <a:pt x="0" y="2754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040689" y="2645132"/>
            <a:ext cx="6278221" cy="363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spc="-374">
                <a:solidFill>
                  <a:srgbClr val="1F1F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About the Dataset</a:t>
            </a:r>
          </a:p>
          <a:p>
            <a:pPr algn="l">
              <a:lnSpc>
                <a:spcPts val="6800"/>
              </a:lnSpc>
            </a:pPr>
          </a:p>
          <a:p>
            <a:pPr algn="l">
              <a:lnSpc>
                <a:spcPts val="68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411730" y="5095875"/>
            <a:ext cx="5906587" cy="35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This</a:t>
            </a:r>
            <a:r>
              <a:rPr lang="en-US" sz="20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project is based on the Brazilian E-Commerce Public Dataset by Olist, available on Kaggle.</a:t>
            </a:r>
          </a:p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The dataset contains approximately 100,000 orders made between 2016 and 2018 across multiple Brazilian marketplaces.</a:t>
            </a:r>
          </a:p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It provides detailed information about orders, payments, products, customers, sellers, reviews, and delivery performance.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5178" y="39793"/>
            <a:ext cx="5401908" cy="3081984"/>
          </a:xfrm>
          <a:custGeom>
            <a:avLst/>
            <a:gdLst/>
            <a:ahLst/>
            <a:cxnLst/>
            <a:rect r="r" b="b" t="t" l="l"/>
            <a:pathLst>
              <a:path h="3081984" w="5401908">
                <a:moveTo>
                  <a:pt x="0" y="0"/>
                </a:moveTo>
                <a:lnTo>
                  <a:pt x="5401907" y="0"/>
                </a:lnTo>
                <a:lnTo>
                  <a:pt x="5401907" y="3081984"/>
                </a:lnTo>
                <a:lnTo>
                  <a:pt x="0" y="3081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391" t="-8393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15406" y="-136746"/>
            <a:ext cx="4529064" cy="2583995"/>
          </a:xfrm>
          <a:custGeom>
            <a:avLst/>
            <a:gdLst/>
            <a:ahLst/>
            <a:cxnLst/>
            <a:rect r="r" b="b" t="t" l="l"/>
            <a:pathLst>
              <a:path h="2583995" w="4529064">
                <a:moveTo>
                  <a:pt x="0" y="0"/>
                </a:moveTo>
                <a:lnTo>
                  <a:pt x="4529064" y="0"/>
                </a:lnTo>
                <a:lnTo>
                  <a:pt x="4529064" y="2583995"/>
                </a:lnTo>
                <a:lnTo>
                  <a:pt x="0" y="25839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4391" t="-83933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294845" y="2447249"/>
            <a:ext cx="8376034" cy="8148813"/>
          </a:xfrm>
          <a:custGeom>
            <a:avLst/>
            <a:gdLst/>
            <a:ahLst/>
            <a:cxnLst/>
            <a:rect r="r" b="b" t="t" l="l"/>
            <a:pathLst>
              <a:path h="8148813" w="8376034">
                <a:moveTo>
                  <a:pt x="8376034" y="0"/>
                </a:moveTo>
                <a:lnTo>
                  <a:pt x="0" y="0"/>
                </a:lnTo>
                <a:lnTo>
                  <a:pt x="0" y="8148812"/>
                </a:lnTo>
                <a:lnTo>
                  <a:pt x="8376034" y="8148812"/>
                </a:lnTo>
                <a:lnTo>
                  <a:pt x="837603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0242" t="0" r="0" b="-3762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60592" y="8517219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2"/>
                </a:lnTo>
                <a:lnTo>
                  <a:pt x="0" y="35395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1936989" y="3951173"/>
            <a:ext cx="6830174" cy="6644888"/>
          </a:xfrm>
          <a:custGeom>
            <a:avLst/>
            <a:gdLst/>
            <a:ahLst/>
            <a:cxnLst/>
            <a:rect r="r" b="b" t="t" l="l"/>
            <a:pathLst>
              <a:path h="6644888" w="6830174">
                <a:moveTo>
                  <a:pt x="6830174" y="0"/>
                </a:moveTo>
                <a:lnTo>
                  <a:pt x="0" y="0"/>
                </a:lnTo>
                <a:lnTo>
                  <a:pt x="0" y="6644888"/>
                </a:lnTo>
                <a:lnTo>
                  <a:pt x="6830174" y="6644888"/>
                </a:lnTo>
                <a:lnTo>
                  <a:pt x="683017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0242" t="0" r="0" b="-3762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69274" y="1674065"/>
            <a:ext cx="10949452" cy="278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spc="-374">
                <a:solidFill>
                  <a:srgbClr val="1F1F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Bu</a:t>
            </a:r>
            <a:r>
              <a:rPr lang="en-US" sz="6800" spc="-374">
                <a:solidFill>
                  <a:srgbClr val="1F1F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siness Context</a:t>
            </a:r>
          </a:p>
          <a:p>
            <a:pPr algn="ctr">
              <a:lnSpc>
                <a:spcPts val="6800"/>
              </a:lnSpc>
            </a:pPr>
          </a:p>
          <a:p>
            <a:pPr algn="ctr">
              <a:lnSpc>
                <a:spcPts val="68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92358" y="3182190"/>
            <a:ext cx="12790504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Olist is one of the l</a:t>
            </a:r>
            <a:r>
              <a:rPr lang="en-US" sz="24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argest e-commerce platforms in Brazil.</a:t>
            </a:r>
          </a:p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It connects small businesses to online marketplaces using a single contract.</a:t>
            </a:r>
          </a:p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After a customer places an order, sellers fulfill the order and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ship it using Olist logistics partners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.</a:t>
            </a:r>
          </a:p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Customers are later invited to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p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rovid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feedba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c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k through sa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isfaction surveys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.</a:t>
            </a:r>
          </a:p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36385" y="8976966"/>
            <a:ext cx="3513819" cy="1053377"/>
          </a:xfrm>
          <a:custGeom>
            <a:avLst/>
            <a:gdLst/>
            <a:ahLst/>
            <a:cxnLst/>
            <a:rect r="r" b="b" t="t" l="l"/>
            <a:pathLst>
              <a:path h="1053377" w="3513819">
                <a:moveTo>
                  <a:pt x="0" y="0"/>
                </a:moveTo>
                <a:lnTo>
                  <a:pt x="3513820" y="0"/>
                </a:lnTo>
                <a:lnTo>
                  <a:pt x="3513820" y="1053377"/>
                </a:lnTo>
                <a:lnTo>
                  <a:pt x="0" y="10533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23602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217502" y="-2384310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1"/>
                </a:lnTo>
                <a:lnTo>
                  <a:pt x="0" y="35395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61338" y="753285"/>
            <a:ext cx="2195335" cy="275415"/>
          </a:xfrm>
          <a:custGeom>
            <a:avLst/>
            <a:gdLst/>
            <a:ahLst/>
            <a:cxnLst/>
            <a:rect r="r" b="b" t="t" l="l"/>
            <a:pathLst>
              <a:path h="275415" w="2195335">
                <a:moveTo>
                  <a:pt x="0" y="0"/>
                </a:moveTo>
                <a:lnTo>
                  <a:pt x="2195335" y="0"/>
                </a:lnTo>
                <a:lnTo>
                  <a:pt x="2195335" y="275415"/>
                </a:lnTo>
                <a:lnTo>
                  <a:pt x="0" y="275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746900" y="9060698"/>
            <a:ext cx="2195335" cy="275415"/>
          </a:xfrm>
          <a:custGeom>
            <a:avLst/>
            <a:gdLst/>
            <a:ahLst/>
            <a:cxnLst/>
            <a:rect r="r" b="b" t="t" l="l"/>
            <a:pathLst>
              <a:path h="275415" w="2195335">
                <a:moveTo>
                  <a:pt x="0" y="0"/>
                </a:moveTo>
                <a:lnTo>
                  <a:pt x="2195335" y="0"/>
                </a:lnTo>
                <a:lnTo>
                  <a:pt x="2195335" y="275415"/>
                </a:lnTo>
                <a:lnTo>
                  <a:pt x="0" y="275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5178" y="39793"/>
            <a:ext cx="5401908" cy="3081984"/>
          </a:xfrm>
          <a:custGeom>
            <a:avLst/>
            <a:gdLst/>
            <a:ahLst/>
            <a:cxnLst/>
            <a:rect r="r" b="b" t="t" l="l"/>
            <a:pathLst>
              <a:path h="3081984" w="5401908">
                <a:moveTo>
                  <a:pt x="0" y="0"/>
                </a:moveTo>
                <a:lnTo>
                  <a:pt x="5401907" y="0"/>
                </a:lnTo>
                <a:lnTo>
                  <a:pt x="5401907" y="3081984"/>
                </a:lnTo>
                <a:lnTo>
                  <a:pt x="0" y="3081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391" t="-8393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15406" y="-136746"/>
            <a:ext cx="4529064" cy="2583995"/>
          </a:xfrm>
          <a:custGeom>
            <a:avLst/>
            <a:gdLst/>
            <a:ahLst/>
            <a:cxnLst/>
            <a:rect r="r" b="b" t="t" l="l"/>
            <a:pathLst>
              <a:path h="2583995" w="4529064">
                <a:moveTo>
                  <a:pt x="0" y="0"/>
                </a:moveTo>
                <a:lnTo>
                  <a:pt x="4529064" y="0"/>
                </a:lnTo>
                <a:lnTo>
                  <a:pt x="4529064" y="2583995"/>
                </a:lnTo>
                <a:lnTo>
                  <a:pt x="0" y="25839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4391" t="-83933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294845" y="2447249"/>
            <a:ext cx="8376034" cy="8148813"/>
          </a:xfrm>
          <a:custGeom>
            <a:avLst/>
            <a:gdLst/>
            <a:ahLst/>
            <a:cxnLst/>
            <a:rect r="r" b="b" t="t" l="l"/>
            <a:pathLst>
              <a:path h="8148813" w="8376034">
                <a:moveTo>
                  <a:pt x="8376034" y="0"/>
                </a:moveTo>
                <a:lnTo>
                  <a:pt x="0" y="0"/>
                </a:lnTo>
                <a:lnTo>
                  <a:pt x="0" y="8148812"/>
                </a:lnTo>
                <a:lnTo>
                  <a:pt x="8376034" y="8148812"/>
                </a:lnTo>
                <a:lnTo>
                  <a:pt x="837603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0242" t="0" r="0" b="-3762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60592" y="8517219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2"/>
                </a:lnTo>
                <a:lnTo>
                  <a:pt x="0" y="35395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1936989" y="3951173"/>
            <a:ext cx="6830174" cy="6644888"/>
          </a:xfrm>
          <a:custGeom>
            <a:avLst/>
            <a:gdLst/>
            <a:ahLst/>
            <a:cxnLst/>
            <a:rect r="r" b="b" t="t" l="l"/>
            <a:pathLst>
              <a:path h="6644888" w="6830174">
                <a:moveTo>
                  <a:pt x="6830174" y="0"/>
                </a:moveTo>
                <a:lnTo>
                  <a:pt x="0" y="0"/>
                </a:lnTo>
                <a:lnTo>
                  <a:pt x="0" y="6644888"/>
                </a:lnTo>
                <a:lnTo>
                  <a:pt x="6830174" y="6644888"/>
                </a:lnTo>
                <a:lnTo>
                  <a:pt x="683017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0242" t="0" r="0" b="-3762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44567" y="990600"/>
            <a:ext cx="6320730" cy="449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spc="-374">
                <a:solidFill>
                  <a:srgbClr val="1F1F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Data</a:t>
            </a:r>
            <a:r>
              <a:rPr lang="en-US" sz="6800" spc="-374">
                <a:solidFill>
                  <a:srgbClr val="1F1F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set Structure</a:t>
            </a:r>
          </a:p>
          <a:p>
            <a:pPr algn="ctr">
              <a:lnSpc>
                <a:spcPts val="6800"/>
              </a:lnSpc>
            </a:pPr>
          </a:p>
          <a:p>
            <a:pPr algn="ctr">
              <a:lnSpc>
                <a:spcPts val="6800"/>
              </a:lnSpc>
            </a:pPr>
          </a:p>
          <a:p>
            <a:pPr algn="ctr">
              <a:lnSpc>
                <a:spcPts val="68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514195" y="2955925"/>
            <a:ext cx="13494286" cy="501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The d</a:t>
            </a:r>
            <a:r>
              <a:rPr lang="en-US" sz="24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ataset is divided into mult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iple tables for better organization:</a:t>
            </a:r>
          </a:p>
          <a:p>
            <a:pPr algn="l" marL="518162" indent="-259081" lvl="1">
              <a:lnSpc>
                <a:spcPts val="336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Orders</a:t>
            </a:r>
          </a:p>
          <a:p>
            <a:pPr algn="l" marL="518162" indent="-259081" lvl="1">
              <a:lnSpc>
                <a:spcPts val="336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Payments</a:t>
            </a:r>
          </a:p>
          <a:p>
            <a:pPr algn="l" marL="518162" indent="-259081" lvl="1">
              <a:lnSpc>
                <a:spcPts val="336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Order Items</a:t>
            </a:r>
          </a:p>
          <a:p>
            <a:pPr algn="l" marL="518162" indent="-259081" lvl="1">
              <a:lnSpc>
                <a:spcPts val="336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Products</a:t>
            </a:r>
          </a:p>
          <a:p>
            <a:pPr algn="l" marL="518162" indent="-259081" lvl="1">
              <a:lnSpc>
                <a:spcPts val="336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Customers</a:t>
            </a:r>
          </a:p>
          <a:p>
            <a:pPr algn="l" marL="518162" indent="-259081" lvl="1">
              <a:lnSpc>
                <a:spcPts val="336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Sellers</a:t>
            </a:r>
          </a:p>
          <a:p>
            <a:pPr algn="l" marL="518162" indent="-259081" lvl="1">
              <a:lnSpc>
                <a:spcPts val="336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Reviews</a:t>
            </a:r>
          </a:p>
          <a:p>
            <a:pPr algn="l" marL="518162" indent="-259081" lvl="1">
              <a:lnSpc>
                <a:spcPts val="336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Geolocation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These tables allow analyzing an order from multiple perspectives such as payment behavior, delivery performance, product attributes, and customer satisfaction.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36385" y="8976966"/>
            <a:ext cx="3513819" cy="1053377"/>
          </a:xfrm>
          <a:custGeom>
            <a:avLst/>
            <a:gdLst/>
            <a:ahLst/>
            <a:cxnLst/>
            <a:rect r="r" b="b" t="t" l="l"/>
            <a:pathLst>
              <a:path h="1053377" w="3513819">
                <a:moveTo>
                  <a:pt x="0" y="0"/>
                </a:moveTo>
                <a:lnTo>
                  <a:pt x="3513820" y="0"/>
                </a:lnTo>
                <a:lnTo>
                  <a:pt x="3513820" y="1053377"/>
                </a:lnTo>
                <a:lnTo>
                  <a:pt x="0" y="10533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23602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217502" y="-2384310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1"/>
                </a:lnTo>
                <a:lnTo>
                  <a:pt x="0" y="35395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61338" y="753285"/>
            <a:ext cx="2195335" cy="275415"/>
          </a:xfrm>
          <a:custGeom>
            <a:avLst/>
            <a:gdLst/>
            <a:ahLst/>
            <a:cxnLst/>
            <a:rect r="r" b="b" t="t" l="l"/>
            <a:pathLst>
              <a:path h="275415" w="2195335">
                <a:moveTo>
                  <a:pt x="0" y="0"/>
                </a:moveTo>
                <a:lnTo>
                  <a:pt x="2195335" y="0"/>
                </a:lnTo>
                <a:lnTo>
                  <a:pt x="2195335" y="275415"/>
                </a:lnTo>
                <a:lnTo>
                  <a:pt x="0" y="275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746900" y="9060698"/>
            <a:ext cx="2195335" cy="275415"/>
          </a:xfrm>
          <a:custGeom>
            <a:avLst/>
            <a:gdLst/>
            <a:ahLst/>
            <a:cxnLst/>
            <a:rect r="r" b="b" t="t" l="l"/>
            <a:pathLst>
              <a:path h="275415" w="2195335">
                <a:moveTo>
                  <a:pt x="0" y="0"/>
                </a:moveTo>
                <a:lnTo>
                  <a:pt x="2195335" y="0"/>
                </a:lnTo>
                <a:lnTo>
                  <a:pt x="2195335" y="275415"/>
                </a:lnTo>
                <a:lnTo>
                  <a:pt x="0" y="275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5178" y="39793"/>
            <a:ext cx="5401908" cy="3081984"/>
          </a:xfrm>
          <a:custGeom>
            <a:avLst/>
            <a:gdLst/>
            <a:ahLst/>
            <a:cxnLst/>
            <a:rect r="r" b="b" t="t" l="l"/>
            <a:pathLst>
              <a:path h="3081984" w="5401908">
                <a:moveTo>
                  <a:pt x="0" y="0"/>
                </a:moveTo>
                <a:lnTo>
                  <a:pt x="5401907" y="0"/>
                </a:lnTo>
                <a:lnTo>
                  <a:pt x="5401907" y="3081984"/>
                </a:lnTo>
                <a:lnTo>
                  <a:pt x="0" y="3081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391" t="-8393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15406" y="-136746"/>
            <a:ext cx="4529064" cy="2583995"/>
          </a:xfrm>
          <a:custGeom>
            <a:avLst/>
            <a:gdLst/>
            <a:ahLst/>
            <a:cxnLst/>
            <a:rect r="r" b="b" t="t" l="l"/>
            <a:pathLst>
              <a:path h="2583995" w="4529064">
                <a:moveTo>
                  <a:pt x="0" y="0"/>
                </a:moveTo>
                <a:lnTo>
                  <a:pt x="4529064" y="0"/>
                </a:lnTo>
                <a:lnTo>
                  <a:pt x="4529064" y="2583995"/>
                </a:lnTo>
                <a:lnTo>
                  <a:pt x="0" y="25839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4391" t="-83933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294845" y="2447249"/>
            <a:ext cx="8376034" cy="8148813"/>
          </a:xfrm>
          <a:custGeom>
            <a:avLst/>
            <a:gdLst/>
            <a:ahLst/>
            <a:cxnLst/>
            <a:rect r="r" b="b" t="t" l="l"/>
            <a:pathLst>
              <a:path h="8148813" w="8376034">
                <a:moveTo>
                  <a:pt x="8376034" y="0"/>
                </a:moveTo>
                <a:lnTo>
                  <a:pt x="0" y="0"/>
                </a:lnTo>
                <a:lnTo>
                  <a:pt x="0" y="8148812"/>
                </a:lnTo>
                <a:lnTo>
                  <a:pt x="8376034" y="8148812"/>
                </a:lnTo>
                <a:lnTo>
                  <a:pt x="837603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0242" t="0" r="0" b="-3762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60592" y="8517219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2"/>
                </a:lnTo>
                <a:lnTo>
                  <a:pt x="0" y="35395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1936989" y="3951173"/>
            <a:ext cx="6830174" cy="6644888"/>
          </a:xfrm>
          <a:custGeom>
            <a:avLst/>
            <a:gdLst/>
            <a:ahLst/>
            <a:cxnLst/>
            <a:rect r="r" b="b" t="t" l="l"/>
            <a:pathLst>
              <a:path h="6644888" w="6830174">
                <a:moveTo>
                  <a:pt x="6830174" y="0"/>
                </a:moveTo>
                <a:lnTo>
                  <a:pt x="0" y="0"/>
                </a:lnTo>
                <a:lnTo>
                  <a:pt x="0" y="6644888"/>
                </a:lnTo>
                <a:lnTo>
                  <a:pt x="6830174" y="6644888"/>
                </a:lnTo>
                <a:lnTo>
                  <a:pt x="683017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0242" t="0" r="0" b="-3762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44567" y="1117151"/>
            <a:ext cx="7799726" cy="535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spc="-374">
                <a:solidFill>
                  <a:srgbClr val="1F1F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Data Cl</a:t>
            </a:r>
            <a:r>
              <a:rPr lang="en-US" sz="6800" spc="-374">
                <a:solidFill>
                  <a:srgbClr val="1F1F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eaning &amp; Preparation</a:t>
            </a:r>
          </a:p>
          <a:p>
            <a:pPr algn="ctr">
              <a:lnSpc>
                <a:spcPts val="6800"/>
              </a:lnSpc>
            </a:pPr>
          </a:p>
          <a:p>
            <a:pPr algn="ctr">
              <a:lnSpc>
                <a:spcPts val="6800"/>
              </a:lnSpc>
            </a:pPr>
          </a:p>
          <a:p>
            <a:pPr algn="ctr">
              <a:lnSpc>
                <a:spcPts val="6800"/>
              </a:lnSpc>
            </a:pPr>
          </a:p>
          <a:p>
            <a:pPr algn="ctr">
              <a:lnSpc>
                <a:spcPts val="68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514195" y="3248285"/>
            <a:ext cx="13494286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I performed d</a:t>
            </a:r>
            <a:r>
              <a:rPr lang="en-US" sz="24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ata cleaning for al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l datasets individually.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This inclu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de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d h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and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ling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m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ss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ing val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ues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,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re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mo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vi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ng dup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l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cates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,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tan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d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rdi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zing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formats,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an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d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p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re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pa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r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ing the data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fo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r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ana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l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ys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s.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Aft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er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c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l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aning,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h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d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et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w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er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r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ad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y for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ma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chi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ne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lea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r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ning m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od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eling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nd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bu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sin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nte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lligence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n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lys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36385" y="8976966"/>
            <a:ext cx="3513819" cy="1053377"/>
          </a:xfrm>
          <a:custGeom>
            <a:avLst/>
            <a:gdLst/>
            <a:ahLst/>
            <a:cxnLst/>
            <a:rect r="r" b="b" t="t" l="l"/>
            <a:pathLst>
              <a:path h="1053377" w="3513819">
                <a:moveTo>
                  <a:pt x="0" y="0"/>
                </a:moveTo>
                <a:lnTo>
                  <a:pt x="3513820" y="0"/>
                </a:lnTo>
                <a:lnTo>
                  <a:pt x="3513820" y="1053377"/>
                </a:lnTo>
                <a:lnTo>
                  <a:pt x="0" y="10533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23602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217502" y="-2384310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1"/>
                </a:lnTo>
                <a:lnTo>
                  <a:pt x="0" y="35395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61338" y="753285"/>
            <a:ext cx="2195335" cy="275415"/>
          </a:xfrm>
          <a:custGeom>
            <a:avLst/>
            <a:gdLst/>
            <a:ahLst/>
            <a:cxnLst/>
            <a:rect r="r" b="b" t="t" l="l"/>
            <a:pathLst>
              <a:path h="275415" w="2195335">
                <a:moveTo>
                  <a:pt x="0" y="0"/>
                </a:moveTo>
                <a:lnTo>
                  <a:pt x="2195335" y="0"/>
                </a:lnTo>
                <a:lnTo>
                  <a:pt x="2195335" y="275415"/>
                </a:lnTo>
                <a:lnTo>
                  <a:pt x="0" y="275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746900" y="9060698"/>
            <a:ext cx="2195335" cy="275415"/>
          </a:xfrm>
          <a:custGeom>
            <a:avLst/>
            <a:gdLst/>
            <a:ahLst/>
            <a:cxnLst/>
            <a:rect r="r" b="b" t="t" l="l"/>
            <a:pathLst>
              <a:path h="275415" w="2195335">
                <a:moveTo>
                  <a:pt x="0" y="0"/>
                </a:moveTo>
                <a:lnTo>
                  <a:pt x="2195335" y="0"/>
                </a:lnTo>
                <a:lnTo>
                  <a:pt x="2195335" y="275415"/>
                </a:lnTo>
                <a:lnTo>
                  <a:pt x="0" y="275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5178" y="39793"/>
            <a:ext cx="5401908" cy="3081984"/>
          </a:xfrm>
          <a:custGeom>
            <a:avLst/>
            <a:gdLst/>
            <a:ahLst/>
            <a:cxnLst/>
            <a:rect r="r" b="b" t="t" l="l"/>
            <a:pathLst>
              <a:path h="3081984" w="5401908">
                <a:moveTo>
                  <a:pt x="0" y="0"/>
                </a:moveTo>
                <a:lnTo>
                  <a:pt x="5401907" y="0"/>
                </a:lnTo>
                <a:lnTo>
                  <a:pt x="5401907" y="3081984"/>
                </a:lnTo>
                <a:lnTo>
                  <a:pt x="0" y="3081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391" t="-8393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15406" y="-136746"/>
            <a:ext cx="4529064" cy="2583995"/>
          </a:xfrm>
          <a:custGeom>
            <a:avLst/>
            <a:gdLst/>
            <a:ahLst/>
            <a:cxnLst/>
            <a:rect r="r" b="b" t="t" l="l"/>
            <a:pathLst>
              <a:path h="2583995" w="4529064">
                <a:moveTo>
                  <a:pt x="0" y="0"/>
                </a:moveTo>
                <a:lnTo>
                  <a:pt x="4529064" y="0"/>
                </a:lnTo>
                <a:lnTo>
                  <a:pt x="4529064" y="2583995"/>
                </a:lnTo>
                <a:lnTo>
                  <a:pt x="0" y="25839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4391" t="-83933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294845" y="2447249"/>
            <a:ext cx="8376034" cy="8148813"/>
          </a:xfrm>
          <a:custGeom>
            <a:avLst/>
            <a:gdLst/>
            <a:ahLst/>
            <a:cxnLst/>
            <a:rect r="r" b="b" t="t" l="l"/>
            <a:pathLst>
              <a:path h="8148813" w="8376034">
                <a:moveTo>
                  <a:pt x="8376034" y="0"/>
                </a:moveTo>
                <a:lnTo>
                  <a:pt x="0" y="0"/>
                </a:lnTo>
                <a:lnTo>
                  <a:pt x="0" y="8148812"/>
                </a:lnTo>
                <a:lnTo>
                  <a:pt x="8376034" y="8148812"/>
                </a:lnTo>
                <a:lnTo>
                  <a:pt x="837603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0242" t="0" r="0" b="-3762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60592" y="8517219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2"/>
                </a:lnTo>
                <a:lnTo>
                  <a:pt x="0" y="35395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1936989" y="3951173"/>
            <a:ext cx="6830174" cy="6644888"/>
          </a:xfrm>
          <a:custGeom>
            <a:avLst/>
            <a:gdLst/>
            <a:ahLst/>
            <a:cxnLst/>
            <a:rect r="r" b="b" t="t" l="l"/>
            <a:pathLst>
              <a:path h="6644888" w="6830174">
                <a:moveTo>
                  <a:pt x="6830174" y="0"/>
                </a:moveTo>
                <a:lnTo>
                  <a:pt x="0" y="0"/>
                </a:lnTo>
                <a:lnTo>
                  <a:pt x="0" y="6644888"/>
                </a:lnTo>
                <a:lnTo>
                  <a:pt x="6830174" y="6644888"/>
                </a:lnTo>
                <a:lnTo>
                  <a:pt x="683017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0242" t="0" r="0" b="-3762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50205" y="1117151"/>
            <a:ext cx="10110722" cy="363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spc="-374">
                <a:solidFill>
                  <a:srgbClr val="1F1F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Machine L</a:t>
            </a:r>
            <a:r>
              <a:rPr lang="en-US" sz="6800" spc="-374">
                <a:solidFill>
                  <a:srgbClr val="1F1F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earning – Classification</a:t>
            </a:r>
          </a:p>
          <a:p>
            <a:pPr algn="ctr">
              <a:lnSpc>
                <a:spcPts val="6800"/>
              </a:lnSpc>
            </a:pPr>
          </a:p>
          <a:p>
            <a:pPr algn="ctr">
              <a:lnSpc>
                <a:spcPts val="68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514195" y="3248285"/>
            <a:ext cx="13494286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After d</a:t>
            </a:r>
            <a:r>
              <a:rPr lang="en-US" sz="24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ata cleaning, I bui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lt a classification model.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Th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go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l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w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to c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lassify the data into tw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o classes b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ase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d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o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n customer and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o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rder-re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lated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featu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res.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Th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d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et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was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split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i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nto tra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ining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nd testing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set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s,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and the mode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l was evaluated using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sta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nd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ard c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lass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ification metric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36385" y="8976966"/>
            <a:ext cx="3513819" cy="1053377"/>
          </a:xfrm>
          <a:custGeom>
            <a:avLst/>
            <a:gdLst/>
            <a:ahLst/>
            <a:cxnLst/>
            <a:rect r="r" b="b" t="t" l="l"/>
            <a:pathLst>
              <a:path h="1053377" w="3513819">
                <a:moveTo>
                  <a:pt x="0" y="0"/>
                </a:moveTo>
                <a:lnTo>
                  <a:pt x="3513820" y="0"/>
                </a:lnTo>
                <a:lnTo>
                  <a:pt x="3513820" y="1053377"/>
                </a:lnTo>
                <a:lnTo>
                  <a:pt x="0" y="10533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23602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217502" y="-2384310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1"/>
                </a:lnTo>
                <a:lnTo>
                  <a:pt x="0" y="35395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61338" y="753285"/>
            <a:ext cx="2195335" cy="275415"/>
          </a:xfrm>
          <a:custGeom>
            <a:avLst/>
            <a:gdLst/>
            <a:ahLst/>
            <a:cxnLst/>
            <a:rect r="r" b="b" t="t" l="l"/>
            <a:pathLst>
              <a:path h="275415" w="2195335">
                <a:moveTo>
                  <a:pt x="0" y="0"/>
                </a:moveTo>
                <a:lnTo>
                  <a:pt x="2195335" y="0"/>
                </a:lnTo>
                <a:lnTo>
                  <a:pt x="2195335" y="275415"/>
                </a:lnTo>
                <a:lnTo>
                  <a:pt x="0" y="275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746900" y="9060698"/>
            <a:ext cx="2195335" cy="275415"/>
          </a:xfrm>
          <a:custGeom>
            <a:avLst/>
            <a:gdLst/>
            <a:ahLst/>
            <a:cxnLst/>
            <a:rect r="r" b="b" t="t" l="l"/>
            <a:pathLst>
              <a:path h="275415" w="2195335">
                <a:moveTo>
                  <a:pt x="0" y="0"/>
                </a:moveTo>
                <a:lnTo>
                  <a:pt x="2195335" y="0"/>
                </a:lnTo>
                <a:lnTo>
                  <a:pt x="2195335" y="275415"/>
                </a:lnTo>
                <a:lnTo>
                  <a:pt x="0" y="275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00774">
            <a:off x="-2433525" y="4876497"/>
            <a:ext cx="7227415" cy="7320586"/>
          </a:xfrm>
          <a:custGeom>
            <a:avLst/>
            <a:gdLst/>
            <a:ahLst/>
            <a:cxnLst/>
            <a:rect r="r" b="b" t="t" l="l"/>
            <a:pathLst>
              <a:path h="7320586" w="7227415">
                <a:moveTo>
                  <a:pt x="0" y="0"/>
                </a:moveTo>
                <a:lnTo>
                  <a:pt x="7227415" y="0"/>
                </a:lnTo>
                <a:lnTo>
                  <a:pt x="7227415" y="7320585"/>
                </a:lnTo>
                <a:lnTo>
                  <a:pt x="0" y="7320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00774">
            <a:off x="-1999698" y="5315916"/>
            <a:ext cx="6359761" cy="6441746"/>
          </a:xfrm>
          <a:custGeom>
            <a:avLst/>
            <a:gdLst/>
            <a:ahLst/>
            <a:cxnLst/>
            <a:rect r="r" b="b" t="t" l="l"/>
            <a:pathLst>
              <a:path h="6441746" w="6359761">
                <a:moveTo>
                  <a:pt x="0" y="0"/>
                </a:moveTo>
                <a:lnTo>
                  <a:pt x="6359761" y="0"/>
                </a:lnTo>
                <a:lnTo>
                  <a:pt x="6359761" y="6441747"/>
                </a:lnTo>
                <a:lnTo>
                  <a:pt x="0" y="64417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81053" y="3697559"/>
            <a:ext cx="6412555" cy="2863106"/>
            <a:chOff x="0" y="0"/>
            <a:chExt cx="1688903" cy="7540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88904" cy="754069"/>
            </a:xfrm>
            <a:custGeom>
              <a:avLst/>
              <a:gdLst/>
              <a:ahLst/>
              <a:cxnLst/>
              <a:rect r="r" b="b" t="t" l="l"/>
              <a:pathLst>
                <a:path h="754069" w="1688904">
                  <a:moveTo>
                    <a:pt x="61573" y="0"/>
                  </a:moveTo>
                  <a:lnTo>
                    <a:pt x="1627331" y="0"/>
                  </a:lnTo>
                  <a:cubicBezTo>
                    <a:pt x="1643661" y="0"/>
                    <a:pt x="1659322" y="6487"/>
                    <a:pt x="1670869" y="18034"/>
                  </a:cubicBezTo>
                  <a:cubicBezTo>
                    <a:pt x="1682416" y="29581"/>
                    <a:pt x="1688904" y="45243"/>
                    <a:pt x="1688904" y="61573"/>
                  </a:cubicBezTo>
                  <a:lnTo>
                    <a:pt x="1688904" y="692496"/>
                  </a:lnTo>
                  <a:cubicBezTo>
                    <a:pt x="1688904" y="708826"/>
                    <a:pt x="1682416" y="724488"/>
                    <a:pt x="1670869" y="736035"/>
                  </a:cubicBezTo>
                  <a:cubicBezTo>
                    <a:pt x="1659322" y="747582"/>
                    <a:pt x="1643661" y="754069"/>
                    <a:pt x="1627331" y="754069"/>
                  </a:cubicBezTo>
                  <a:lnTo>
                    <a:pt x="61573" y="754069"/>
                  </a:lnTo>
                  <a:cubicBezTo>
                    <a:pt x="45243" y="754069"/>
                    <a:pt x="29581" y="747582"/>
                    <a:pt x="18034" y="736035"/>
                  </a:cubicBezTo>
                  <a:cubicBezTo>
                    <a:pt x="6487" y="724488"/>
                    <a:pt x="0" y="708826"/>
                    <a:pt x="0" y="692496"/>
                  </a:cubicBezTo>
                  <a:lnTo>
                    <a:pt x="0" y="61573"/>
                  </a:lnTo>
                  <a:cubicBezTo>
                    <a:pt x="0" y="45243"/>
                    <a:pt x="6487" y="29581"/>
                    <a:pt x="18034" y="18034"/>
                  </a:cubicBezTo>
                  <a:cubicBezTo>
                    <a:pt x="29581" y="6487"/>
                    <a:pt x="45243" y="0"/>
                    <a:pt x="61573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688903" cy="801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-3101907">
            <a:off x="13325257" y="-1838663"/>
            <a:ext cx="6349101" cy="6664133"/>
          </a:xfrm>
          <a:custGeom>
            <a:avLst/>
            <a:gdLst/>
            <a:ahLst/>
            <a:cxnLst/>
            <a:rect r="r" b="b" t="t" l="l"/>
            <a:pathLst>
              <a:path h="6664133" w="6349101">
                <a:moveTo>
                  <a:pt x="6349101" y="0"/>
                </a:moveTo>
                <a:lnTo>
                  <a:pt x="0" y="0"/>
                </a:lnTo>
                <a:lnTo>
                  <a:pt x="0" y="6664132"/>
                </a:lnTo>
                <a:lnTo>
                  <a:pt x="6349101" y="6664132"/>
                </a:lnTo>
                <a:lnTo>
                  <a:pt x="634910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3101907">
            <a:off x="13781887" y="-1844066"/>
            <a:ext cx="5777781" cy="6064465"/>
          </a:xfrm>
          <a:custGeom>
            <a:avLst/>
            <a:gdLst/>
            <a:ahLst/>
            <a:cxnLst/>
            <a:rect r="r" b="b" t="t" l="l"/>
            <a:pathLst>
              <a:path h="6064465" w="5777781">
                <a:moveTo>
                  <a:pt x="5777781" y="0"/>
                </a:moveTo>
                <a:lnTo>
                  <a:pt x="0" y="0"/>
                </a:lnTo>
                <a:lnTo>
                  <a:pt x="0" y="6064465"/>
                </a:lnTo>
                <a:lnTo>
                  <a:pt x="5777781" y="6064465"/>
                </a:lnTo>
                <a:lnTo>
                  <a:pt x="577778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514552" y="1589529"/>
            <a:ext cx="11258897" cy="278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spc="-374">
                <a:solidFill>
                  <a:srgbClr val="1F1F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Cla</a:t>
            </a:r>
            <a:r>
              <a:rPr lang="en-US" sz="6800" spc="-374">
                <a:solidFill>
                  <a:srgbClr val="1F1F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ssification Results</a:t>
            </a:r>
          </a:p>
          <a:p>
            <a:pPr algn="ctr">
              <a:lnSpc>
                <a:spcPts val="6800"/>
              </a:lnSpc>
            </a:pPr>
          </a:p>
          <a:p>
            <a:pPr algn="ctr">
              <a:lnSpc>
                <a:spcPts val="68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708957" y="2802858"/>
            <a:ext cx="12850508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4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he classification model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achieved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he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follo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w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n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g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resul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s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o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n the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test set: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875553" y="5287004"/>
            <a:ext cx="5859893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Precision = 0.75, Recall =</a:t>
            </a:r>
            <a:r>
              <a:rPr lang="en-US" sz="20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0.30, F1-score = 0.43</a:t>
            </a:r>
          </a:p>
          <a:p>
            <a:pPr algn="ctr">
              <a:lnSpc>
                <a:spcPts val="28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345287" y="4495924"/>
            <a:ext cx="492042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F1F1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Class 0: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2041027" y="157998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1"/>
                </a:lnTo>
                <a:lnTo>
                  <a:pt x="0" y="35395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745172" y="6560665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1"/>
                </a:lnTo>
                <a:lnTo>
                  <a:pt x="0" y="35395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978536" y="-2958296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1"/>
                </a:lnTo>
                <a:lnTo>
                  <a:pt x="0" y="35395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416884" y="753285"/>
            <a:ext cx="2195335" cy="275415"/>
          </a:xfrm>
          <a:custGeom>
            <a:avLst/>
            <a:gdLst/>
            <a:ahLst/>
            <a:cxnLst/>
            <a:rect r="r" b="b" t="t" l="l"/>
            <a:pathLst>
              <a:path h="275415" w="2195335">
                <a:moveTo>
                  <a:pt x="0" y="0"/>
                </a:moveTo>
                <a:lnTo>
                  <a:pt x="2195335" y="0"/>
                </a:lnTo>
                <a:lnTo>
                  <a:pt x="2195335" y="275415"/>
                </a:lnTo>
                <a:lnTo>
                  <a:pt x="0" y="275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638548" y="9258300"/>
            <a:ext cx="2195335" cy="275415"/>
          </a:xfrm>
          <a:custGeom>
            <a:avLst/>
            <a:gdLst/>
            <a:ahLst/>
            <a:cxnLst/>
            <a:rect r="r" b="b" t="t" l="l"/>
            <a:pathLst>
              <a:path h="275415" w="2195335">
                <a:moveTo>
                  <a:pt x="0" y="0"/>
                </a:moveTo>
                <a:lnTo>
                  <a:pt x="2195335" y="0"/>
                </a:lnTo>
                <a:lnTo>
                  <a:pt x="2195335" y="275415"/>
                </a:lnTo>
                <a:lnTo>
                  <a:pt x="0" y="275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294391" y="3697559"/>
            <a:ext cx="6412555" cy="2863106"/>
            <a:chOff x="0" y="0"/>
            <a:chExt cx="1688903" cy="7540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88904" cy="754069"/>
            </a:xfrm>
            <a:custGeom>
              <a:avLst/>
              <a:gdLst/>
              <a:ahLst/>
              <a:cxnLst/>
              <a:rect r="r" b="b" t="t" l="l"/>
              <a:pathLst>
                <a:path h="754069" w="1688904">
                  <a:moveTo>
                    <a:pt x="61573" y="0"/>
                  </a:moveTo>
                  <a:lnTo>
                    <a:pt x="1627331" y="0"/>
                  </a:lnTo>
                  <a:cubicBezTo>
                    <a:pt x="1643661" y="0"/>
                    <a:pt x="1659322" y="6487"/>
                    <a:pt x="1670869" y="18034"/>
                  </a:cubicBezTo>
                  <a:cubicBezTo>
                    <a:pt x="1682416" y="29581"/>
                    <a:pt x="1688904" y="45243"/>
                    <a:pt x="1688904" y="61573"/>
                  </a:cubicBezTo>
                  <a:lnTo>
                    <a:pt x="1688904" y="692496"/>
                  </a:lnTo>
                  <a:cubicBezTo>
                    <a:pt x="1688904" y="708826"/>
                    <a:pt x="1682416" y="724488"/>
                    <a:pt x="1670869" y="736035"/>
                  </a:cubicBezTo>
                  <a:cubicBezTo>
                    <a:pt x="1659322" y="747582"/>
                    <a:pt x="1643661" y="754069"/>
                    <a:pt x="1627331" y="754069"/>
                  </a:cubicBezTo>
                  <a:lnTo>
                    <a:pt x="61573" y="754069"/>
                  </a:lnTo>
                  <a:cubicBezTo>
                    <a:pt x="45243" y="754069"/>
                    <a:pt x="29581" y="747582"/>
                    <a:pt x="18034" y="736035"/>
                  </a:cubicBezTo>
                  <a:cubicBezTo>
                    <a:pt x="6487" y="724488"/>
                    <a:pt x="0" y="708826"/>
                    <a:pt x="0" y="692496"/>
                  </a:cubicBezTo>
                  <a:lnTo>
                    <a:pt x="0" y="61573"/>
                  </a:lnTo>
                  <a:cubicBezTo>
                    <a:pt x="0" y="45243"/>
                    <a:pt x="6487" y="29581"/>
                    <a:pt x="18034" y="18034"/>
                  </a:cubicBezTo>
                  <a:cubicBezTo>
                    <a:pt x="29581" y="6487"/>
                    <a:pt x="45243" y="0"/>
                    <a:pt x="61573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688903" cy="801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588891" y="5287004"/>
            <a:ext cx="5859893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Precision = 0.83, Recall =</a:t>
            </a:r>
            <a:r>
              <a:rPr lang="en-US" sz="20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0.97, F1-score = 0.89</a:t>
            </a:r>
          </a:p>
          <a:p>
            <a:pPr algn="ctr">
              <a:lnSpc>
                <a:spcPts val="2800"/>
              </a:lnSpc>
            </a:pPr>
          </a:p>
          <a:p>
            <a:pPr algn="ctr">
              <a:lnSpc>
                <a:spcPts val="280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0058626" y="4495924"/>
            <a:ext cx="492042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1F1F1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Class 1: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63637" y="6860220"/>
            <a:ext cx="12850508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Ov</a:t>
            </a:r>
            <a:r>
              <a:rPr lang="en-US" sz="24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erall accuracy reached 82%, indicating good model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perfo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rma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nce, es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pecial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l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y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f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or the majority class.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5178" y="39793"/>
            <a:ext cx="5401908" cy="3081984"/>
          </a:xfrm>
          <a:custGeom>
            <a:avLst/>
            <a:gdLst/>
            <a:ahLst/>
            <a:cxnLst/>
            <a:rect r="r" b="b" t="t" l="l"/>
            <a:pathLst>
              <a:path h="3081984" w="5401908">
                <a:moveTo>
                  <a:pt x="0" y="0"/>
                </a:moveTo>
                <a:lnTo>
                  <a:pt x="5401907" y="0"/>
                </a:lnTo>
                <a:lnTo>
                  <a:pt x="5401907" y="3081984"/>
                </a:lnTo>
                <a:lnTo>
                  <a:pt x="0" y="3081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391" t="-8393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15406" y="-136746"/>
            <a:ext cx="4529064" cy="2583995"/>
          </a:xfrm>
          <a:custGeom>
            <a:avLst/>
            <a:gdLst/>
            <a:ahLst/>
            <a:cxnLst/>
            <a:rect r="r" b="b" t="t" l="l"/>
            <a:pathLst>
              <a:path h="2583995" w="4529064">
                <a:moveTo>
                  <a:pt x="0" y="0"/>
                </a:moveTo>
                <a:lnTo>
                  <a:pt x="4529064" y="0"/>
                </a:lnTo>
                <a:lnTo>
                  <a:pt x="4529064" y="2583995"/>
                </a:lnTo>
                <a:lnTo>
                  <a:pt x="0" y="25839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4391" t="-83933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294845" y="2447249"/>
            <a:ext cx="8376034" cy="8148813"/>
          </a:xfrm>
          <a:custGeom>
            <a:avLst/>
            <a:gdLst/>
            <a:ahLst/>
            <a:cxnLst/>
            <a:rect r="r" b="b" t="t" l="l"/>
            <a:pathLst>
              <a:path h="8148813" w="8376034">
                <a:moveTo>
                  <a:pt x="8376034" y="0"/>
                </a:moveTo>
                <a:lnTo>
                  <a:pt x="0" y="0"/>
                </a:lnTo>
                <a:lnTo>
                  <a:pt x="0" y="8148812"/>
                </a:lnTo>
                <a:lnTo>
                  <a:pt x="8376034" y="8148812"/>
                </a:lnTo>
                <a:lnTo>
                  <a:pt x="837603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0242" t="0" r="0" b="-3762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60592" y="8517219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2"/>
                </a:lnTo>
                <a:lnTo>
                  <a:pt x="0" y="35395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1936989" y="3951173"/>
            <a:ext cx="6830174" cy="6644888"/>
          </a:xfrm>
          <a:custGeom>
            <a:avLst/>
            <a:gdLst/>
            <a:ahLst/>
            <a:cxnLst/>
            <a:rect r="r" b="b" t="t" l="l"/>
            <a:pathLst>
              <a:path h="6644888" w="6830174">
                <a:moveTo>
                  <a:pt x="6830174" y="0"/>
                </a:moveTo>
                <a:lnTo>
                  <a:pt x="0" y="0"/>
                </a:lnTo>
                <a:lnTo>
                  <a:pt x="0" y="6644888"/>
                </a:lnTo>
                <a:lnTo>
                  <a:pt x="6830174" y="6644888"/>
                </a:lnTo>
                <a:lnTo>
                  <a:pt x="683017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0242" t="0" r="0" b="-3762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44567" y="990600"/>
            <a:ext cx="7799726" cy="363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spc="-374">
                <a:solidFill>
                  <a:srgbClr val="1F1F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Powe</a:t>
            </a:r>
            <a:r>
              <a:rPr lang="en-US" sz="6800" spc="-374">
                <a:solidFill>
                  <a:srgbClr val="1F1F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r BI Dashboard</a:t>
            </a:r>
          </a:p>
          <a:p>
            <a:pPr algn="ctr">
              <a:lnSpc>
                <a:spcPts val="6800"/>
              </a:lnSpc>
            </a:pPr>
          </a:p>
          <a:p>
            <a:pPr algn="ctr">
              <a:lnSpc>
                <a:spcPts val="680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36385" y="8976966"/>
            <a:ext cx="3513819" cy="1053377"/>
          </a:xfrm>
          <a:custGeom>
            <a:avLst/>
            <a:gdLst/>
            <a:ahLst/>
            <a:cxnLst/>
            <a:rect r="r" b="b" t="t" l="l"/>
            <a:pathLst>
              <a:path h="1053377" w="3513819">
                <a:moveTo>
                  <a:pt x="0" y="0"/>
                </a:moveTo>
                <a:lnTo>
                  <a:pt x="3513820" y="0"/>
                </a:lnTo>
                <a:lnTo>
                  <a:pt x="3513820" y="1053377"/>
                </a:lnTo>
                <a:lnTo>
                  <a:pt x="0" y="10533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23602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217502" y="-2384310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1"/>
                </a:lnTo>
                <a:lnTo>
                  <a:pt x="0" y="35395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61338" y="753285"/>
            <a:ext cx="2195335" cy="275415"/>
          </a:xfrm>
          <a:custGeom>
            <a:avLst/>
            <a:gdLst/>
            <a:ahLst/>
            <a:cxnLst/>
            <a:rect r="r" b="b" t="t" l="l"/>
            <a:pathLst>
              <a:path h="275415" w="2195335">
                <a:moveTo>
                  <a:pt x="0" y="0"/>
                </a:moveTo>
                <a:lnTo>
                  <a:pt x="2195335" y="0"/>
                </a:lnTo>
                <a:lnTo>
                  <a:pt x="2195335" y="275415"/>
                </a:lnTo>
                <a:lnTo>
                  <a:pt x="0" y="275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746900" y="9060698"/>
            <a:ext cx="2195335" cy="275415"/>
          </a:xfrm>
          <a:custGeom>
            <a:avLst/>
            <a:gdLst/>
            <a:ahLst/>
            <a:cxnLst/>
            <a:rect r="r" b="b" t="t" l="l"/>
            <a:pathLst>
              <a:path h="275415" w="2195335">
                <a:moveTo>
                  <a:pt x="0" y="0"/>
                </a:moveTo>
                <a:lnTo>
                  <a:pt x="2195335" y="0"/>
                </a:lnTo>
                <a:lnTo>
                  <a:pt x="2195335" y="275415"/>
                </a:lnTo>
                <a:lnTo>
                  <a:pt x="0" y="275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152944" y="4455937"/>
            <a:ext cx="9996205" cy="5635360"/>
          </a:xfrm>
          <a:custGeom>
            <a:avLst/>
            <a:gdLst/>
            <a:ahLst/>
            <a:cxnLst/>
            <a:rect r="r" b="b" t="t" l="l"/>
            <a:pathLst>
              <a:path h="5635360" w="9996205">
                <a:moveTo>
                  <a:pt x="0" y="0"/>
                </a:moveTo>
                <a:lnTo>
                  <a:pt x="9996204" y="0"/>
                </a:lnTo>
                <a:lnTo>
                  <a:pt x="9996204" y="5635360"/>
                </a:lnTo>
                <a:lnTo>
                  <a:pt x="0" y="563536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14195" y="3248285"/>
            <a:ext cx="13494286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After </a:t>
            </a:r>
            <a:r>
              <a:rPr lang="en-US" sz="24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completing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the machine l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earning ph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se,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I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loaded the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cleaned d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ata i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nto P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ow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er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BI.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Th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d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ets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were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connected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usi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ng proper relat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ionships, and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n interactiv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 dashboard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was created to analyze the business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performa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nce f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rom mu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l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tiple perspective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5178" y="39793"/>
            <a:ext cx="5401908" cy="3081984"/>
          </a:xfrm>
          <a:custGeom>
            <a:avLst/>
            <a:gdLst/>
            <a:ahLst/>
            <a:cxnLst/>
            <a:rect r="r" b="b" t="t" l="l"/>
            <a:pathLst>
              <a:path h="3081984" w="5401908">
                <a:moveTo>
                  <a:pt x="0" y="0"/>
                </a:moveTo>
                <a:lnTo>
                  <a:pt x="5401907" y="0"/>
                </a:lnTo>
                <a:lnTo>
                  <a:pt x="5401907" y="3081984"/>
                </a:lnTo>
                <a:lnTo>
                  <a:pt x="0" y="3081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391" t="-8393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15406" y="-136746"/>
            <a:ext cx="4529064" cy="2583995"/>
          </a:xfrm>
          <a:custGeom>
            <a:avLst/>
            <a:gdLst/>
            <a:ahLst/>
            <a:cxnLst/>
            <a:rect r="r" b="b" t="t" l="l"/>
            <a:pathLst>
              <a:path h="2583995" w="4529064">
                <a:moveTo>
                  <a:pt x="0" y="0"/>
                </a:moveTo>
                <a:lnTo>
                  <a:pt x="4529064" y="0"/>
                </a:lnTo>
                <a:lnTo>
                  <a:pt x="4529064" y="2583995"/>
                </a:lnTo>
                <a:lnTo>
                  <a:pt x="0" y="25839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4391" t="-83933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294845" y="2447249"/>
            <a:ext cx="8376034" cy="8148813"/>
          </a:xfrm>
          <a:custGeom>
            <a:avLst/>
            <a:gdLst/>
            <a:ahLst/>
            <a:cxnLst/>
            <a:rect r="r" b="b" t="t" l="l"/>
            <a:pathLst>
              <a:path h="8148813" w="8376034">
                <a:moveTo>
                  <a:pt x="8376034" y="0"/>
                </a:moveTo>
                <a:lnTo>
                  <a:pt x="0" y="0"/>
                </a:lnTo>
                <a:lnTo>
                  <a:pt x="0" y="8148812"/>
                </a:lnTo>
                <a:lnTo>
                  <a:pt x="8376034" y="8148812"/>
                </a:lnTo>
                <a:lnTo>
                  <a:pt x="837603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0242" t="0" r="0" b="-3762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60592" y="8517219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2"/>
                </a:lnTo>
                <a:lnTo>
                  <a:pt x="0" y="35395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1936989" y="3951173"/>
            <a:ext cx="6830174" cy="6644888"/>
          </a:xfrm>
          <a:custGeom>
            <a:avLst/>
            <a:gdLst/>
            <a:ahLst/>
            <a:cxnLst/>
            <a:rect r="r" b="b" t="t" l="l"/>
            <a:pathLst>
              <a:path h="6644888" w="6830174">
                <a:moveTo>
                  <a:pt x="6830174" y="0"/>
                </a:moveTo>
                <a:lnTo>
                  <a:pt x="0" y="0"/>
                </a:lnTo>
                <a:lnTo>
                  <a:pt x="0" y="6644888"/>
                </a:lnTo>
                <a:lnTo>
                  <a:pt x="6830174" y="6644888"/>
                </a:lnTo>
                <a:lnTo>
                  <a:pt x="683017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0242" t="0" r="0" b="-3762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44567" y="990600"/>
            <a:ext cx="8470433" cy="363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spc="-374">
                <a:solidFill>
                  <a:srgbClr val="1F1F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Orde</a:t>
            </a:r>
            <a:r>
              <a:rPr lang="en-US" sz="6800" spc="-374">
                <a:solidFill>
                  <a:srgbClr val="1F1F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rs &amp; Payments Analysis</a:t>
            </a:r>
          </a:p>
          <a:p>
            <a:pPr algn="ctr">
              <a:lnSpc>
                <a:spcPts val="6800"/>
              </a:lnSpc>
            </a:pPr>
          </a:p>
          <a:p>
            <a:pPr algn="ctr">
              <a:lnSpc>
                <a:spcPts val="680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36385" y="8976966"/>
            <a:ext cx="3513819" cy="1053377"/>
          </a:xfrm>
          <a:custGeom>
            <a:avLst/>
            <a:gdLst/>
            <a:ahLst/>
            <a:cxnLst/>
            <a:rect r="r" b="b" t="t" l="l"/>
            <a:pathLst>
              <a:path h="1053377" w="3513819">
                <a:moveTo>
                  <a:pt x="0" y="0"/>
                </a:moveTo>
                <a:lnTo>
                  <a:pt x="3513820" y="0"/>
                </a:lnTo>
                <a:lnTo>
                  <a:pt x="3513820" y="1053377"/>
                </a:lnTo>
                <a:lnTo>
                  <a:pt x="0" y="10533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23602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217502" y="-2384310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1"/>
                </a:lnTo>
                <a:lnTo>
                  <a:pt x="0" y="35395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61338" y="753285"/>
            <a:ext cx="2195335" cy="275415"/>
          </a:xfrm>
          <a:custGeom>
            <a:avLst/>
            <a:gdLst/>
            <a:ahLst/>
            <a:cxnLst/>
            <a:rect r="r" b="b" t="t" l="l"/>
            <a:pathLst>
              <a:path h="275415" w="2195335">
                <a:moveTo>
                  <a:pt x="0" y="0"/>
                </a:moveTo>
                <a:lnTo>
                  <a:pt x="2195335" y="0"/>
                </a:lnTo>
                <a:lnTo>
                  <a:pt x="2195335" y="275415"/>
                </a:lnTo>
                <a:lnTo>
                  <a:pt x="0" y="275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746900" y="9060698"/>
            <a:ext cx="2195335" cy="275415"/>
          </a:xfrm>
          <a:custGeom>
            <a:avLst/>
            <a:gdLst/>
            <a:ahLst/>
            <a:cxnLst/>
            <a:rect r="r" b="b" t="t" l="l"/>
            <a:pathLst>
              <a:path h="275415" w="2195335">
                <a:moveTo>
                  <a:pt x="0" y="0"/>
                </a:moveTo>
                <a:lnTo>
                  <a:pt x="2195335" y="0"/>
                </a:lnTo>
                <a:lnTo>
                  <a:pt x="2195335" y="275415"/>
                </a:lnTo>
                <a:lnTo>
                  <a:pt x="0" y="275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428735" y="4787841"/>
            <a:ext cx="9564532" cy="5361578"/>
          </a:xfrm>
          <a:custGeom>
            <a:avLst/>
            <a:gdLst/>
            <a:ahLst/>
            <a:cxnLst/>
            <a:rect r="r" b="b" t="t" l="l"/>
            <a:pathLst>
              <a:path h="5361578" w="9564532">
                <a:moveTo>
                  <a:pt x="0" y="0"/>
                </a:moveTo>
                <a:lnTo>
                  <a:pt x="9564532" y="0"/>
                </a:lnTo>
                <a:lnTo>
                  <a:pt x="9564532" y="5361578"/>
                </a:lnTo>
                <a:lnTo>
                  <a:pt x="0" y="536157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729" r="0" b="-729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70448" y="3074152"/>
            <a:ext cx="16177115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This </a:t>
            </a:r>
            <a:r>
              <a:rPr lang="en-US" sz="24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page focus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es on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analyzing order beha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vior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and payment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p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rform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an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c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t in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cludes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to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tal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or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ders,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to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al rev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enue,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order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status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distribution, payment met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hods, and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mo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nthly rev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enue trend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s.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The analysis highlights how customers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place orders 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nd h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ow payments are made.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5178" y="39793"/>
            <a:ext cx="5401908" cy="3081984"/>
          </a:xfrm>
          <a:custGeom>
            <a:avLst/>
            <a:gdLst/>
            <a:ahLst/>
            <a:cxnLst/>
            <a:rect r="r" b="b" t="t" l="l"/>
            <a:pathLst>
              <a:path h="3081984" w="5401908">
                <a:moveTo>
                  <a:pt x="0" y="0"/>
                </a:moveTo>
                <a:lnTo>
                  <a:pt x="5401907" y="0"/>
                </a:lnTo>
                <a:lnTo>
                  <a:pt x="5401907" y="3081984"/>
                </a:lnTo>
                <a:lnTo>
                  <a:pt x="0" y="3081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391" t="-8393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15406" y="-136746"/>
            <a:ext cx="4529064" cy="2583995"/>
          </a:xfrm>
          <a:custGeom>
            <a:avLst/>
            <a:gdLst/>
            <a:ahLst/>
            <a:cxnLst/>
            <a:rect r="r" b="b" t="t" l="l"/>
            <a:pathLst>
              <a:path h="2583995" w="4529064">
                <a:moveTo>
                  <a:pt x="0" y="0"/>
                </a:moveTo>
                <a:lnTo>
                  <a:pt x="4529064" y="0"/>
                </a:lnTo>
                <a:lnTo>
                  <a:pt x="4529064" y="2583995"/>
                </a:lnTo>
                <a:lnTo>
                  <a:pt x="0" y="25839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4391" t="-83933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294845" y="2447249"/>
            <a:ext cx="8376034" cy="8148813"/>
          </a:xfrm>
          <a:custGeom>
            <a:avLst/>
            <a:gdLst/>
            <a:ahLst/>
            <a:cxnLst/>
            <a:rect r="r" b="b" t="t" l="l"/>
            <a:pathLst>
              <a:path h="8148813" w="8376034">
                <a:moveTo>
                  <a:pt x="8376034" y="0"/>
                </a:moveTo>
                <a:lnTo>
                  <a:pt x="0" y="0"/>
                </a:lnTo>
                <a:lnTo>
                  <a:pt x="0" y="8148812"/>
                </a:lnTo>
                <a:lnTo>
                  <a:pt x="8376034" y="8148812"/>
                </a:lnTo>
                <a:lnTo>
                  <a:pt x="837603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0242" t="0" r="0" b="-3762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60592" y="8517219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2"/>
                </a:lnTo>
                <a:lnTo>
                  <a:pt x="0" y="35395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1936989" y="3951173"/>
            <a:ext cx="6830174" cy="6644888"/>
          </a:xfrm>
          <a:custGeom>
            <a:avLst/>
            <a:gdLst/>
            <a:ahLst/>
            <a:cxnLst/>
            <a:rect r="r" b="b" t="t" l="l"/>
            <a:pathLst>
              <a:path h="6644888" w="6830174">
                <a:moveTo>
                  <a:pt x="6830174" y="0"/>
                </a:moveTo>
                <a:lnTo>
                  <a:pt x="0" y="0"/>
                </a:lnTo>
                <a:lnTo>
                  <a:pt x="0" y="6644888"/>
                </a:lnTo>
                <a:lnTo>
                  <a:pt x="6830174" y="6644888"/>
                </a:lnTo>
                <a:lnTo>
                  <a:pt x="683017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0242" t="0" r="0" b="-3762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44567" y="990600"/>
            <a:ext cx="8470433" cy="363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spc="-374">
                <a:solidFill>
                  <a:srgbClr val="1F1F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Product</a:t>
            </a:r>
            <a:r>
              <a:rPr lang="en-US" sz="6800" spc="-374">
                <a:solidFill>
                  <a:srgbClr val="1F1F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s &amp; Sales Analysis</a:t>
            </a:r>
          </a:p>
          <a:p>
            <a:pPr algn="ctr">
              <a:lnSpc>
                <a:spcPts val="6800"/>
              </a:lnSpc>
            </a:pPr>
          </a:p>
          <a:p>
            <a:pPr algn="ctr">
              <a:lnSpc>
                <a:spcPts val="680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36385" y="8976966"/>
            <a:ext cx="3513819" cy="1053377"/>
          </a:xfrm>
          <a:custGeom>
            <a:avLst/>
            <a:gdLst/>
            <a:ahLst/>
            <a:cxnLst/>
            <a:rect r="r" b="b" t="t" l="l"/>
            <a:pathLst>
              <a:path h="1053377" w="3513819">
                <a:moveTo>
                  <a:pt x="0" y="0"/>
                </a:moveTo>
                <a:lnTo>
                  <a:pt x="3513820" y="0"/>
                </a:lnTo>
                <a:lnTo>
                  <a:pt x="3513820" y="1053377"/>
                </a:lnTo>
                <a:lnTo>
                  <a:pt x="0" y="10533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23602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217502" y="-2384310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1"/>
                </a:lnTo>
                <a:lnTo>
                  <a:pt x="0" y="35395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61338" y="753285"/>
            <a:ext cx="2195335" cy="275415"/>
          </a:xfrm>
          <a:custGeom>
            <a:avLst/>
            <a:gdLst/>
            <a:ahLst/>
            <a:cxnLst/>
            <a:rect r="r" b="b" t="t" l="l"/>
            <a:pathLst>
              <a:path h="275415" w="2195335">
                <a:moveTo>
                  <a:pt x="0" y="0"/>
                </a:moveTo>
                <a:lnTo>
                  <a:pt x="2195335" y="0"/>
                </a:lnTo>
                <a:lnTo>
                  <a:pt x="2195335" y="275415"/>
                </a:lnTo>
                <a:lnTo>
                  <a:pt x="0" y="275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746900" y="9060698"/>
            <a:ext cx="2195335" cy="275415"/>
          </a:xfrm>
          <a:custGeom>
            <a:avLst/>
            <a:gdLst/>
            <a:ahLst/>
            <a:cxnLst/>
            <a:rect r="r" b="b" t="t" l="l"/>
            <a:pathLst>
              <a:path h="275415" w="2195335">
                <a:moveTo>
                  <a:pt x="0" y="0"/>
                </a:moveTo>
                <a:lnTo>
                  <a:pt x="2195335" y="0"/>
                </a:lnTo>
                <a:lnTo>
                  <a:pt x="2195335" y="275415"/>
                </a:lnTo>
                <a:lnTo>
                  <a:pt x="0" y="275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27008" y="4802396"/>
            <a:ext cx="9474504" cy="5364938"/>
          </a:xfrm>
          <a:custGeom>
            <a:avLst/>
            <a:gdLst/>
            <a:ahLst/>
            <a:cxnLst/>
            <a:rect r="r" b="b" t="t" l="l"/>
            <a:pathLst>
              <a:path h="5364938" w="9474504">
                <a:moveTo>
                  <a:pt x="0" y="0"/>
                </a:moveTo>
                <a:lnTo>
                  <a:pt x="9474504" y="0"/>
                </a:lnTo>
                <a:lnTo>
                  <a:pt x="9474504" y="5364938"/>
                </a:lnTo>
                <a:lnTo>
                  <a:pt x="0" y="536493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70448" y="3074152"/>
            <a:ext cx="16177115" cy="208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This </a:t>
            </a:r>
            <a:r>
              <a:rPr lang="en-US" sz="24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page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analyzes product performance an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d sales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behavior.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It shows rev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enue by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product category,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top-selling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products, sales tren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ds over time, and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the relatio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nship betwe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en product price and freight co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st.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The analysis helps identify the most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profitable product categories.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600774">
            <a:off x="-2433525" y="4876497"/>
            <a:ext cx="7227415" cy="7320586"/>
          </a:xfrm>
          <a:custGeom>
            <a:avLst/>
            <a:gdLst/>
            <a:ahLst/>
            <a:cxnLst/>
            <a:rect r="r" b="b" t="t" l="l"/>
            <a:pathLst>
              <a:path h="7320586" w="7227415">
                <a:moveTo>
                  <a:pt x="0" y="0"/>
                </a:moveTo>
                <a:lnTo>
                  <a:pt x="7227415" y="0"/>
                </a:lnTo>
                <a:lnTo>
                  <a:pt x="7227415" y="7320585"/>
                </a:lnTo>
                <a:lnTo>
                  <a:pt x="0" y="7320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00774">
            <a:off x="-1999698" y="5315916"/>
            <a:ext cx="6359761" cy="6441746"/>
          </a:xfrm>
          <a:custGeom>
            <a:avLst/>
            <a:gdLst/>
            <a:ahLst/>
            <a:cxnLst/>
            <a:rect r="r" b="b" t="t" l="l"/>
            <a:pathLst>
              <a:path h="6441746" w="6359761">
                <a:moveTo>
                  <a:pt x="0" y="0"/>
                </a:moveTo>
                <a:lnTo>
                  <a:pt x="6359761" y="0"/>
                </a:lnTo>
                <a:lnTo>
                  <a:pt x="6359761" y="6441747"/>
                </a:lnTo>
                <a:lnTo>
                  <a:pt x="0" y="64417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81053" y="3697559"/>
            <a:ext cx="6412555" cy="1637070"/>
            <a:chOff x="0" y="0"/>
            <a:chExt cx="1688903" cy="4311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88904" cy="431163"/>
            </a:xfrm>
            <a:custGeom>
              <a:avLst/>
              <a:gdLst/>
              <a:ahLst/>
              <a:cxnLst/>
              <a:rect r="r" b="b" t="t" l="l"/>
              <a:pathLst>
                <a:path h="431163" w="1688904">
                  <a:moveTo>
                    <a:pt x="61573" y="0"/>
                  </a:moveTo>
                  <a:lnTo>
                    <a:pt x="1627331" y="0"/>
                  </a:lnTo>
                  <a:cubicBezTo>
                    <a:pt x="1643661" y="0"/>
                    <a:pt x="1659322" y="6487"/>
                    <a:pt x="1670869" y="18034"/>
                  </a:cubicBezTo>
                  <a:cubicBezTo>
                    <a:pt x="1682416" y="29581"/>
                    <a:pt x="1688904" y="45243"/>
                    <a:pt x="1688904" y="61573"/>
                  </a:cubicBezTo>
                  <a:lnTo>
                    <a:pt x="1688904" y="369590"/>
                  </a:lnTo>
                  <a:cubicBezTo>
                    <a:pt x="1688904" y="403596"/>
                    <a:pt x="1661337" y="431163"/>
                    <a:pt x="1627331" y="431163"/>
                  </a:cubicBezTo>
                  <a:lnTo>
                    <a:pt x="61573" y="431163"/>
                  </a:lnTo>
                  <a:cubicBezTo>
                    <a:pt x="45243" y="431163"/>
                    <a:pt x="29581" y="424675"/>
                    <a:pt x="18034" y="413128"/>
                  </a:cubicBezTo>
                  <a:cubicBezTo>
                    <a:pt x="6487" y="401581"/>
                    <a:pt x="0" y="385920"/>
                    <a:pt x="0" y="369590"/>
                  </a:cubicBezTo>
                  <a:lnTo>
                    <a:pt x="0" y="61573"/>
                  </a:lnTo>
                  <a:cubicBezTo>
                    <a:pt x="0" y="45243"/>
                    <a:pt x="6487" y="29581"/>
                    <a:pt x="18034" y="18034"/>
                  </a:cubicBezTo>
                  <a:cubicBezTo>
                    <a:pt x="29581" y="6487"/>
                    <a:pt x="45243" y="0"/>
                    <a:pt x="61573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688903" cy="478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-3101907">
            <a:off x="13325257" y="-1838663"/>
            <a:ext cx="6349101" cy="6664133"/>
          </a:xfrm>
          <a:custGeom>
            <a:avLst/>
            <a:gdLst/>
            <a:ahLst/>
            <a:cxnLst/>
            <a:rect r="r" b="b" t="t" l="l"/>
            <a:pathLst>
              <a:path h="6664133" w="6349101">
                <a:moveTo>
                  <a:pt x="6349101" y="0"/>
                </a:moveTo>
                <a:lnTo>
                  <a:pt x="0" y="0"/>
                </a:lnTo>
                <a:lnTo>
                  <a:pt x="0" y="6664132"/>
                </a:lnTo>
                <a:lnTo>
                  <a:pt x="6349101" y="6664132"/>
                </a:lnTo>
                <a:lnTo>
                  <a:pt x="634910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3101907">
            <a:off x="13781887" y="-1844066"/>
            <a:ext cx="5777781" cy="6064465"/>
          </a:xfrm>
          <a:custGeom>
            <a:avLst/>
            <a:gdLst/>
            <a:ahLst/>
            <a:cxnLst/>
            <a:rect r="r" b="b" t="t" l="l"/>
            <a:pathLst>
              <a:path h="6064465" w="5777781">
                <a:moveTo>
                  <a:pt x="5777781" y="0"/>
                </a:moveTo>
                <a:lnTo>
                  <a:pt x="0" y="0"/>
                </a:lnTo>
                <a:lnTo>
                  <a:pt x="0" y="6064465"/>
                </a:lnTo>
                <a:lnTo>
                  <a:pt x="5777781" y="6064465"/>
                </a:lnTo>
                <a:lnTo>
                  <a:pt x="577778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514552" y="1589529"/>
            <a:ext cx="11258897" cy="278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spc="-374">
                <a:solidFill>
                  <a:srgbClr val="1F1F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Key I</a:t>
            </a:r>
            <a:r>
              <a:rPr lang="en-US" sz="6800" spc="-374">
                <a:solidFill>
                  <a:srgbClr val="1F1F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nsights</a:t>
            </a:r>
          </a:p>
          <a:p>
            <a:pPr algn="ctr">
              <a:lnSpc>
                <a:spcPts val="6800"/>
              </a:lnSpc>
            </a:pPr>
          </a:p>
          <a:p>
            <a:pPr algn="ctr">
              <a:lnSpc>
                <a:spcPts val="68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887975" y="4255894"/>
            <a:ext cx="5798713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1F1F1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Most customers placed only one order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2041027" y="157998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1"/>
                </a:lnTo>
                <a:lnTo>
                  <a:pt x="0" y="35395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745172" y="6560665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1"/>
                </a:lnTo>
                <a:lnTo>
                  <a:pt x="0" y="35395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978536" y="-2958296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1"/>
                </a:lnTo>
                <a:lnTo>
                  <a:pt x="0" y="35395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416884" y="753285"/>
            <a:ext cx="2195335" cy="275415"/>
          </a:xfrm>
          <a:custGeom>
            <a:avLst/>
            <a:gdLst/>
            <a:ahLst/>
            <a:cxnLst/>
            <a:rect r="r" b="b" t="t" l="l"/>
            <a:pathLst>
              <a:path h="275415" w="2195335">
                <a:moveTo>
                  <a:pt x="0" y="0"/>
                </a:moveTo>
                <a:lnTo>
                  <a:pt x="2195335" y="0"/>
                </a:lnTo>
                <a:lnTo>
                  <a:pt x="2195335" y="275415"/>
                </a:lnTo>
                <a:lnTo>
                  <a:pt x="0" y="275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638548" y="9258300"/>
            <a:ext cx="2195335" cy="275415"/>
          </a:xfrm>
          <a:custGeom>
            <a:avLst/>
            <a:gdLst/>
            <a:ahLst/>
            <a:cxnLst/>
            <a:rect r="r" b="b" t="t" l="l"/>
            <a:pathLst>
              <a:path h="275415" w="2195335">
                <a:moveTo>
                  <a:pt x="0" y="0"/>
                </a:moveTo>
                <a:lnTo>
                  <a:pt x="2195335" y="0"/>
                </a:lnTo>
                <a:lnTo>
                  <a:pt x="2195335" y="275415"/>
                </a:lnTo>
                <a:lnTo>
                  <a:pt x="0" y="275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581053" y="5671309"/>
            <a:ext cx="6412555" cy="1637070"/>
            <a:chOff x="0" y="0"/>
            <a:chExt cx="1688903" cy="43116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88904" cy="431163"/>
            </a:xfrm>
            <a:custGeom>
              <a:avLst/>
              <a:gdLst/>
              <a:ahLst/>
              <a:cxnLst/>
              <a:rect r="r" b="b" t="t" l="l"/>
              <a:pathLst>
                <a:path h="431163" w="1688904">
                  <a:moveTo>
                    <a:pt x="61573" y="0"/>
                  </a:moveTo>
                  <a:lnTo>
                    <a:pt x="1627331" y="0"/>
                  </a:lnTo>
                  <a:cubicBezTo>
                    <a:pt x="1643661" y="0"/>
                    <a:pt x="1659322" y="6487"/>
                    <a:pt x="1670869" y="18034"/>
                  </a:cubicBezTo>
                  <a:cubicBezTo>
                    <a:pt x="1682416" y="29581"/>
                    <a:pt x="1688904" y="45243"/>
                    <a:pt x="1688904" y="61573"/>
                  </a:cubicBezTo>
                  <a:lnTo>
                    <a:pt x="1688904" y="369590"/>
                  </a:lnTo>
                  <a:cubicBezTo>
                    <a:pt x="1688904" y="403596"/>
                    <a:pt x="1661337" y="431163"/>
                    <a:pt x="1627331" y="431163"/>
                  </a:cubicBezTo>
                  <a:lnTo>
                    <a:pt x="61573" y="431163"/>
                  </a:lnTo>
                  <a:cubicBezTo>
                    <a:pt x="45243" y="431163"/>
                    <a:pt x="29581" y="424675"/>
                    <a:pt x="18034" y="413128"/>
                  </a:cubicBezTo>
                  <a:cubicBezTo>
                    <a:pt x="6487" y="401581"/>
                    <a:pt x="0" y="385920"/>
                    <a:pt x="0" y="369590"/>
                  </a:cubicBezTo>
                  <a:lnTo>
                    <a:pt x="0" y="61573"/>
                  </a:lnTo>
                  <a:cubicBezTo>
                    <a:pt x="0" y="45243"/>
                    <a:pt x="6487" y="29581"/>
                    <a:pt x="18034" y="18034"/>
                  </a:cubicBezTo>
                  <a:cubicBezTo>
                    <a:pt x="29581" y="6487"/>
                    <a:pt x="45243" y="0"/>
                    <a:pt x="61573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688903" cy="478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887975" y="6229644"/>
            <a:ext cx="5798713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1F1F1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 small number of product categories generate most of the revenue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9294391" y="4598709"/>
            <a:ext cx="6412555" cy="1637070"/>
            <a:chOff x="0" y="0"/>
            <a:chExt cx="1688903" cy="4311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88904" cy="431163"/>
            </a:xfrm>
            <a:custGeom>
              <a:avLst/>
              <a:gdLst/>
              <a:ahLst/>
              <a:cxnLst/>
              <a:rect r="r" b="b" t="t" l="l"/>
              <a:pathLst>
                <a:path h="431163" w="1688904">
                  <a:moveTo>
                    <a:pt x="61573" y="0"/>
                  </a:moveTo>
                  <a:lnTo>
                    <a:pt x="1627331" y="0"/>
                  </a:lnTo>
                  <a:cubicBezTo>
                    <a:pt x="1643661" y="0"/>
                    <a:pt x="1659322" y="6487"/>
                    <a:pt x="1670869" y="18034"/>
                  </a:cubicBezTo>
                  <a:cubicBezTo>
                    <a:pt x="1682416" y="29581"/>
                    <a:pt x="1688904" y="45243"/>
                    <a:pt x="1688904" y="61573"/>
                  </a:cubicBezTo>
                  <a:lnTo>
                    <a:pt x="1688904" y="369590"/>
                  </a:lnTo>
                  <a:cubicBezTo>
                    <a:pt x="1688904" y="403596"/>
                    <a:pt x="1661337" y="431163"/>
                    <a:pt x="1627331" y="431163"/>
                  </a:cubicBezTo>
                  <a:lnTo>
                    <a:pt x="61573" y="431163"/>
                  </a:lnTo>
                  <a:cubicBezTo>
                    <a:pt x="45243" y="431163"/>
                    <a:pt x="29581" y="424675"/>
                    <a:pt x="18034" y="413128"/>
                  </a:cubicBezTo>
                  <a:cubicBezTo>
                    <a:pt x="6487" y="401581"/>
                    <a:pt x="0" y="385920"/>
                    <a:pt x="0" y="369590"/>
                  </a:cubicBezTo>
                  <a:lnTo>
                    <a:pt x="0" y="61573"/>
                  </a:lnTo>
                  <a:cubicBezTo>
                    <a:pt x="0" y="45243"/>
                    <a:pt x="6487" y="29581"/>
                    <a:pt x="18034" y="18034"/>
                  </a:cubicBezTo>
                  <a:cubicBezTo>
                    <a:pt x="29581" y="6487"/>
                    <a:pt x="45243" y="0"/>
                    <a:pt x="61573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688903" cy="478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601313" y="5157044"/>
            <a:ext cx="5798713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1F1F1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Credit card is the most common payment method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9294391" y="6875439"/>
            <a:ext cx="6412555" cy="1637070"/>
            <a:chOff x="0" y="0"/>
            <a:chExt cx="1688903" cy="43116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88904" cy="431163"/>
            </a:xfrm>
            <a:custGeom>
              <a:avLst/>
              <a:gdLst/>
              <a:ahLst/>
              <a:cxnLst/>
              <a:rect r="r" b="b" t="t" l="l"/>
              <a:pathLst>
                <a:path h="431163" w="1688904">
                  <a:moveTo>
                    <a:pt x="61573" y="0"/>
                  </a:moveTo>
                  <a:lnTo>
                    <a:pt x="1627331" y="0"/>
                  </a:lnTo>
                  <a:cubicBezTo>
                    <a:pt x="1643661" y="0"/>
                    <a:pt x="1659322" y="6487"/>
                    <a:pt x="1670869" y="18034"/>
                  </a:cubicBezTo>
                  <a:cubicBezTo>
                    <a:pt x="1682416" y="29581"/>
                    <a:pt x="1688904" y="45243"/>
                    <a:pt x="1688904" y="61573"/>
                  </a:cubicBezTo>
                  <a:lnTo>
                    <a:pt x="1688904" y="369590"/>
                  </a:lnTo>
                  <a:cubicBezTo>
                    <a:pt x="1688904" y="403596"/>
                    <a:pt x="1661337" y="431163"/>
                    <a:pt x="1627331" y="431163"/>
                  </a:cubicBezTo>
                  <a:lnTo>
                    <a:pt x="61573" y="431163"/>
                  </a:lnTo>
                  <a:cubicBezTo>
                    <a:pt x="45243" y="431163"/>
                    <a:pt x="29581" y="424675"/>
                    <a:pt x="18034" y="413128"/>
                  </a:cubicBezTo>
                  <a:cubicBezTo>
                    <a:pt x="6487" y="401581"/>
                    <a:pt x="0" y="385920"/>
                    <a:pt x="0" y="369590"/>
                  </a:cubicBezTo>
                  <a:lnTo>
                    <a:pt x="0" y="61573"/>
                  </a:lnTo>
                  <a:cubicBezTo>
                    <a:pt x="0" y="45243"/>
                    <a:pt x="6487" y="29581"/>
                    <a:pt x="18034" y="18034"/>
                  </a:cubicBezTo>
                  <a:cubicBezTo>
                    <a:pt x="29581" y="6487"/>
                    <a:pt x="45243" y="0"/>
                    <a:pt x="61573" y="0"/>
                  </a:cubicBezTo>
                  <a:close/>
                </a:path>
              </a:pathLst>
            </a:custGeom>
            <a:solidFill>
              <a:srgbClr val="F3F3F3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688903" cy="478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601313" y="7433774"/>
            <a:ext cx="5798713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1F1F1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The majority of orders were successfully delivered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5178" y="39793"/>
            <a:ext cx="5401908" cy="3081984"/>
          </a:xfrm>
          <a:custGeom>
            <a:avLst/>
            <a:gdLst/>
            <a:ahLst/>
            <a:cxnLst/>
            <a:rect r="r" b="b" t="t" l="l"/>
            <a:pathLst>
              <a:path h="3081984" w="5401908">
                <a:moveTo>
                  <a:pt x="0" y="0"/>
                </a:moveTo>
                <a:lnTo>
                  <a:pt x="5401907" y="0"/>
                </a:lnTo>
                <a:lnTo>
                  <a:pt x="5401907" y="3081984"/>
                </a:lnTo>
                <a:lnTo>
                  <a:pt x="0" y="30819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4391" t="-8393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15406" y="-136746"/>
            <a:ext cx="4529064" cy="2583995"/>
          </a:xfrm>
          <a:custGeom>
            <a:avLst/>
            <a:gdLst/>
            <a:ahLst/>
            <a:cxnLst/>
            <a:rect r="r" b="b" t="t" l="l"/>
            <a:pathLst>
              <a:path h="2583995" w="4529064">
                <a:moveTo>
                  <a:pt x="0" y="0"/>
                </a:moveTo>
                <a:lnTo>
                  <a:pt x="4529064" y="0"/>
                </a:lnTo>
                <a:lnTo>
                  <a:pt x="4529064" y="2583995"/>
                </a:lnTo>
                <a:lnTo>
                  <a:pt x="0" y="25839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4391" t="-83933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294845" y="2447249"/>
            <a:ext cx="8376034" cy="8148813"/>
          </a:xfrm>
          <a:custGeom>
            <a:avLst/>
            <a:gdLst/>
            <a:ahLst/>
            <a:cxnLst/>
            <a:rect r="r" b="b" t="t" l="l"/>
            <a:pathLst>
              <a:path h="8148813" w="8376034">
                <a:moveTo>
                  <a:pt x="8376034" y="0"/>
                </a:moveTo>
                <a:lnTo>
                  <a:pt x="0" y="0"/>
                </a:lnTo>
                <a:lnTo>
                  <a:pt x="0" y="8148812"/>
                </a:lnTo>
                <a:lnTo>
                  <a:pt x="8376034" y="8148812"/>
                </a:lnTo>
                <a:lnTo>
                  <a:pt x="837603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0242" t="0" r="0" b="-37627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60592" y="8517219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2"/>
                </a:lnTo>
                <a:lnTo>
                  <a:pt x="0" y="35395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1936989" y="3951173"/>
            <a:ext cx="6830174" cy="6644888"/>
          </a:xfrm>
          <a:custGeom>
            <a:avLst/>
            <a:gdLst/>
            <a:ahLst/>
            <a:cxnLst/>
            <a:rect r="r" b="b" t="t" l="l"/>
            <a:pathLst>
              <a:path h="6644888" w="6830174">
                <a:moveTo>
                  <a:pt x="6830174" y="0"/>
                </a:moveTo>
                <a:lnTo>
                  <a:pt x="0" y="0"/>
                </a:lnTo>
                <a:lnTo>
                  <a:pt x="0" y="6644888"/>
                </a:lnTo>
                <a:lnTo>
                  <a:pt x="6830174" y="6644888"/>
                </a:lnTo>
                <a:lnTo>
                  <a:pt x="683017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0242" t="0" r="0" b="-37627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44567" y="1542685"/>
            <a:ext cx="7799726" cy="1068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spc="-374">
                <a:solidFill>
                  <a:srgbClr val="1F1F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Conc</a:t>
            </a:r>
            <a:r>
              <a:rPr lang="en-US" sz="6800" spc="-374">
                <a:solidFill>
                  <a:srgbClr val="1F1F1F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4195" y="3248285"/>
            <a:ext cx="13494286" cy="208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This project combines d</a:t>
            </a:r>
            <a:r>
              <a:rPr lang="en-US" sz="2400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ata cleaning, machine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learning, and business intelligence.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Th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Po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wer BI d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shboard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provides c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lear insights into Brazi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lian e-commerc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 b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ehavio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r.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Th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results c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an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help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busi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nesses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improve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decision-making, e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specially in customer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retention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 a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nd p</a:t>
            </a:r>
            <a:r>
              <a:rPr lang="en-US" sz="2400" strike="noStrike" u="none">
                <a:solidFill>
                  <a:srgbClr val="1F1F1F"/>
                </a:solidFill>
                <a:latin typeface="TT Firs Neue"/>
                <a:ea typeface="TT Firs Neue"/>
                <a:cs typeface="TT Firs Neue"/>
                <a:sym typeface="TT Firs Neue"/>
              </a:rPr>
              <a:t>roduct strategy.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36385" y="8976966"/>
            <a:ext cx="3513819" cy="1053377"/>
          </a:xfrm>
          <a:custGeom>
            <a:avLst/>
            <a:gdLst/>
            <a:ahLst/>
            <a:cxnLst/>
            <a:rect r="r" b="b" t="t" l="l"/>
            <a:pathLst>
              <a:path h="1053377" w="3513819">
                <a:moveTo>
                  <a:pt x="0" y="0"/>
                </a:moveTo>
                <a:lnTo>
                  <a:pt x="3513820" y="0"/>
                </a:lnTo>
                <a:lnTo>
                  <a:pt x="3513820" y="1053377"/>
                </a:lnTo>
                <a:lnTo>
                  <a:pt x="0" y="10533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23602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217502" y="-2384310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1"/>
                </a:lnTo>
                <a:lnTo>
                  <a:pt x="0" y="35395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61338" y="753285"/>
            <a:ext cx="2195335" cy="275415"/>
          </a:xfrm>
          <a:custGeom>
            <a:avLst/>
            <a:gdLst/>
            <a:ahLst/>
            <a:cxnLst/>
            <a:rect r="r" b="b" t="t" l="l"/>
            <a:pathLst>
              <a:path h="275415" w="2195335">
                <a:moveTo>
                  <a:pt x="0" y="0"/>
                </a:moveTo>
                <a:lnTo>
                  <a:pt x="2195335" y="0"/>
                </a:lnTo>
                <a:lnTo>
                  <a:pt x="2195335" y="275415"/>
                </a:lnTo>
                <a:lnTo>
                  <a:pt x="0" y="275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746900" y="9060698"/>
            <a:ext cx="2195335" cy="275415"/>
          </a:xfrm>
          <a:custGeom>
            <a:avLst/>
            <a:gdLst/>
            <a:ahLst/>
            <a:cxnLst/>
            <a:rect r="r" b="b" t="t" l="l"/>
            <a:pathLst>
              <a:path h="275415" w="2195335">
                <a:moveTo>
                  <a:pt x="0" y="0"/>
                </a:moveTo>
                <a:lnTo>
                  <a:pt x="2195335" y="0"/>
                </a:lnTo>
                <a:lnTo>
                  <a:pt x="2195335" y="275415"/>
                </a:lnTo>
                <a:lnTo>
                  <a:pt x="0" y="275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9394" y="0"/>
            <a:ext cx="10189129" cy="6284833"/>
          </a:xfrm>
          <a:custGeom>
            <a:avLst/>
            <a:gdLst/>
            <a:ahLst/>
            <a:cxnLst/>
            <a:rect r="r" b="b" t="t" l="l"/>
            <a:pathLst>
              <a:path h="6284833" w="10189129">
                <a:moveTo>
                  <a:pt x="0" y="0"/>
                </a:moveTo>
                <a:lnTo>
                  <a:pt x="10189128" y="0"/>
                </a:lnTo>
                <a:lnTo>
                  <a:pt x="10189128" y="6284833"/>
                </a:lnTo>
                <a:lnTo>
                  <a:pt x="0" y="62848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126" t="-122627" r="-1064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41027" y="3750821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2"/>
                </a:lnTo>
                <a:lnTo>
                  <a:pt x="0" y="3539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61658" y="-178846"/>
            <a:ext cx="7705427" cy="4752842"/>
          </a:xfrm>
          <a:custGeom>
            <a:avLst/>
            <a:gdLst/>
            <a:ahLst/>
            <a:cxnLst/>
            <a:rect r="r" b="b" t="t" l="l"/>
            <a:pathLst>
              <a:path h="4752842" w="7705427">
                <a:moveTo>
                  <a:pt x="0" y="0"/>
                </a:moveTo>
                <a:lnTo>
                  <a:pt x="7705427" y="0"/>
                </a:lnTo>
                <a:lnTo>
                  <a:pt x="7705427" y="4752842"/>
                </a:lnTo>
                <a:lnTo>
                  <a:pt x="0" y="47528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52126" t="-122627" r="-10645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4677789" y="-1592773"/>
            <a:ext cx="14248709" cy="12619860"/>
          </a:xfrm>
          <a:custGeom>
            <a:avLst/>
            <a:gdLst/>
            <a:ahLst/>
            <a:cxnLst/>
            <a:rect r="r" b="b" t="t" l="l"/>
            <a:pathLst>
              <a:path h="12619860" w="14248709">
                <a:moveTo>
                  <a:pt x="14248709" y="0"/>
                </a:moveTo>
                <a:lnTo>
                  <a:pt x="0" y="0"/>
                </a:lnTo>
                <a:lnTo>
                  <a:pt x="0" y="12619860"/>
                </a:lnTo>
                <a:lnTo>
                  <a:pt x="14248709" y="12619860"/>
                </a:lnTo>
                <a:lnTo>
                  <a:pt x="1424870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1430" t="0" r="0" b="-4094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15223" y="9725637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1"/>
                </a:lnTo>
                <a:lnTo>
                  <a:pt x="0" y="3539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368439" y="-741081"/>
            <a:ext cx="3513819" cy="3539561"/>
          </a:xfrm>
          <a:custGeom>
            <a:avLst/>
            <a:gdLst/>
            <a:ahLst/>
            <a:cxnLst/>
            <a:rect r="r" b="b" t="t" l="l"/>
            <a:pathLst>
              <a:path h="3539561" w="3513819">
                <a:moveTo>
                  <a:pt x="0" y="0"/>
                </a:moveTo>
                <a:lnTo>
                  <a:pt x="3513819" y="0"/>
                </a:lnTo>
                <a:lnTo>
                  <a:pt x="3513819" y="3539562"/>
                </a:lnTo>
                <a:lnTo>
                  <a:pt x="0" y="3539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6943775" y="396754"/>
            <a:ext cx="11830322" cy="10477933"/>
          </a:xfrm>
          <a:custGeom>
            <a:avLst/>
            <a:gdLst/>
            <a:ahLst/>
            <a:cxnLst/>
            <a:rect r="r" b="b" t="t" l="l"/>
            <a:pathLst>
              <a:path h="10477933" w="11830322">
                <a:moveTo>
                  <a:pt x="11830323" y="0"/>
                </a:moveTo>
                <a:lnTo>
                  <a:pt x="0" y="0"/>
                </a:lnTo>
                <a:lnTo>
                  <a:pt x="0" y="10477933"/>
                </a:lnTo>
                <a:lnTo>
                  <a:pt x="11830323" y="10477933"/>
                </a:lnTo>
                <a:lnTo>
                  <a:pt x="1183032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21430" t="0" r="0" b="-40947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79811" y="9120593"/>
            <a:ext cx="2195335" cy="275415"/>
          </a:xfrm>
          <a:custGeom>
            <a:avLst/>
            <a:gdLst/>
            <a:ahLst/>
            <a:cxnLst/>
            <a:rect r="r" b="b" t="t" l="l"/>
            <a:pathLst>
              <a:path h="275415" w="2195335">
                <a:moveTo>
                  <a:pt x="0" y="0"/>
                </a:moveTo>
                <a:lnTo>
                  <a:pt x="2195335" y="0"/>
                </a:lnTo>
                <a:lnTo>
                  <a:pt x="2195335" y="275414"/>
                </a:lnTo>
                <a:lnTo>
                  <a:pt x="0" y="2754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61338" y="753285"/>
            <a:ext cx="2195335" cy="275415"/>
          </a:xfrm>
          <a:custGeom>
            <a:avLst/>
            <a:gdLst/>
            <a:ahLst/>
            <a:cxnLst/>
            <a:rect r="r" b="b" t="t" l="l"/>
            <a:pathLst>
              <a:path h="275415" w="2195335">
                <a:moveTo>
                  <a:pt x="0" y="0"/>
                </a:moveTo>
                <a:lnTo>
                  <a:pt x="2195335" y="0"/>
                </a:lnTo>
                <a:lnTo>
                  <a:pt x="2195335" y="275415"/>
                </a:lnTo>
                <a:lnTo>
                  <a:pt x="0" y="2754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391055" y="2830104"/>
            <a:ext cx="13627561" cy="498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00"/>
              </a:lnSpc>
            </a:pPr>
            <a:r>
              <a:rPr lang="en-US" sz="17600" spc="-968">
                <a:solidFill>
                  <a:srgbClr val="696297"/>
                </a:solidFill>
                <a:latin typeface="Heading Now 71-78"/>
                <a:ea typeface="Heading Now 71-78"/>
                <a:cs typeface="Heading Now 71-78"/>
                <a:sym typeface="Heading Now 71-78"/>
              </a:rPr>
              <a:t>Thank you so much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DAHAl873qDw</dc:identifier>
  <dcterms:modified xsi:type="dcterms:W3CDTF">2011-08-01T06:04:30Z</dcterms:modified>
  <cp:revision>1</cp:revision>
  <dc:title>White Purple and Black Modern Data Analysis Portfolio Presentation</dc:title>
</cp:coreProperties>
</file>